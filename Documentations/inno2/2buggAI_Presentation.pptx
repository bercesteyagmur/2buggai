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2" r:id="rId1"/>
  </p:sldMasterIdLst>
  <p:sldIdLst>
    <p:sldId id="256" r:id="rId2"/>
    <p:sldId id="257" r:id="rId3"/>
    <p:sldId id="258" r:id="rId4"/>
    <p:sldId id="259" r:id="rId5"/>
    <p:sldId id="262" r:id="rId6"/>
    <p:sldId id="268" r:id="rId7"/>
    <p:sldId id="269" r:id="rId8"/>
    <p:sldId id="263" r:id="rId9"/>
    <p:sldId id="266" r:id="rId10"/>
    <p:sldId id="267" r:id="rId11"/>
    <p:sldId id="264" r:id="rId12"/>
    <p:sldId id="265"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4CAACF-D085-A57A-C2AD-E76A6CB7F2E7}" v="354" dt="2026-06-21T22:02:26.402"/>
    <p1510:client id="{D63184B8-F600-F8D0-41ED-7025DA92E8CE}" v="19" dt="2026-06-21T20:40:07.584"/>
    <p1510:client id="{D947E07C-0111-1BC4-B4C3-D42469E68F3A}" v="839" dt="2026-06-21T13:35:56.576"/>
    <p1510:client id="{F2BCBE95-47EA-DBAF-B4DA-67C18CE67BF7}" v="318" dt="2026-06-21T21:39:54.35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B803667-5069-49DF-9E6A-6D6F79318641}" type="doc">
      <dgm:prSet loTypeId="urn:microsoft.com/office/officeart/2005/8/layout/process1" loCatId="process" qsTypeId="urn:microsoft.com/office/officeart/2005/8/quickstyle/simple4" qsCatId="simple" csTypeId="urn:microsoft.com/office/officeart/2005/8/colors/accent2_2" csCatId="accent2" phldr="1"/>
      <dgm:spPr/>
      <dgm:t>
        <a:bodyPr/>
        <a:lstStyle/>
        <a:p>
          <a:endParaRPr lang="en-US"/>
        </a:p>
      </dgm:t>
    </dgm:pt>
    <dgm:pt modelId="{4A363EC9-DBD1-4490-824A-2412788C591A}">
      <dgm:prSet custT="0"/>
      <dgm:spPr/>
      <dgm:t>
        <a:bodyPr/>
        <a:lstStyle/>
        <a:p>
          <a:pPr rtl="0"/>
          <a:r>
            <a:rPr lang="en-US"/>
            <a:t>Input Layer: </a:t>
          </a:r>
          <a:r>
            <a:rPr lang="en-US">
              <a:latin typeface="Walbaum Display"/>
            </a:rPr>
            <a:t>Developer</a:t>
          </a:r>
          <a:r>
            <a:rPr lang="en-US"/>
            <a:t> runs the tool via CLI, providing a path to a repository, a short fix description, and optional flags </a:t>
          </a:r>
          <a:endParaRPr lang="en-US">
            <a:latin typeface="Walbaum Display"/>
          </a:endParaRPr>
        </a:p>
      </dgm:t>
    </dgm:pt>
    <dgm:pt modelId="{AB3F52C3-797A-45E4-99A7-A83E98702FF6}" type="parTrans" cxnId="{1ECA9370-AAD3-4715-AB30-B5EDB55391AB}">
      <dgm:prSet/>
      <dgm:spPr/>
      <dgm:t>
        <a:bodyPr/>
        <a:lstStyle/>
        <a:p>
          <a:endParaRPr lang="en-US"/>
        </a:p>
      </dgm:t>
    </dgm:pt>
    <dgm:pt modelId="{E634C378-2EA4-4E2C-B902-825FC2DD9108}" type="sibTrans" cxnId="{1ECA9370-AAD3-4715-AB30-B5EDB55391AB}">
      <dgm:prSet/>
      <dgm:spPr/>
      <dgm:t>
        <a:bodyPr/>
        <a:lstStyle/>
        <a:p>
          <a:endParaRPr lang="en-US"/>
        </a:p>
      </dgm:t>
    </dgm:pt>
    <dgm:pt modelId="{445BBD6B-A4F9-4ED1-A0D6-37C9A98EFE53}">
      <dgm:prSet/>
      <dgm:spPr/>
      <dgm:t>
        <a:bodyPr/>
        <a:lstStyle/>
        <a:p>
          <a:r>
            <a:rPr lang="en-US"/>
            <a:t>Output Layer: Results are displayed in the terminal as a structured debug report including detected errors, AI explanation, suggested fix, and the fix applied directly into the source file with a .</a:t>
          </a:r>
          <a:r>
            <a:rPr lang="en-US" err="1"/>
            <a:t>bak</a:t>
          </a:r>
          <a:r>
            <a:rPr lang="en-US"/>
            <a:t> backup. Optionally the full report including source code, compile output, error list, and AI analysis is saved as a JSON file.</a:t>
          </a:r>
        </a:p>
      </dgm:t>
    </dgm:pt>
    <dgm:pt modelId="{EE7485E8-12FD-4A36-B53B-11147C1702B4}" type="parTrans" cxnId="{E02E4948-F82B-4A6A-B9EF-200B6548B343}">
      <dgm:prSet/>
      <dgm:spPr/>
      <dgm:t>
        <a:bodyPr/>
        <a:lstStyle/>
        <a:p>
          <a:endParaRPr lang="en-US"/>
        </a:p>
      </dgm:t>
    </dgm:pt>
    <dgm:pt modelId="{901F045E-F96D-4E93-9127-C1667169B26F}" type="sibTrans" cxnId="{E02E4948-F82B-4A6A-B9EF-200B6548B343}">
      <dgm:prSet/>
      <dgm:spPr/>
      <dgm:t>
        <a:bodyPr/>
        <a:lstStyle/>
        <a:p>
          <a:endParaRPr lang="en-US"/>
        </a:p>
      </dgm:t>
    </dgm:pt>
    <dgm:pt modelId="{9E87BEE5-9CB2-41CC-BEEA-64CA45EFE103}">
      <dgm:prSet phldrT="[Text]" phldr="0"/>
      <dgm:spPr/>
      <dgm:t>
        <a:bodyPr/>
        <a:lstStyle/>
        <a:p>
          <a:pPr>
            <a:lnSpc>
              <a:spcPct val="100000"/>
            </a:lnSpc>
          </a:pPr>
          <a:r>
            <a:rPr lang="en-US"/>
            <a:t>Processing Layer: Our tool automatically handles everything: file collection, language and build system detection, dependency installation, compilation, debugging, error classification, and AI analysis</a:t>
          </a:r>
          <a:r>
            <a:rPr lang="en-US">
              <a:latin typeface="Walbaum Display"/>
            </a:rPr>
            <a:t>.</a:t>
          </a:r>
          <a:endParaRPr lang="en-US"/>
        </a:p>
      </dgm:t>
    </dgm:pt>
    <dgm:pt modelId="{954D0BB3-43FC-4E11-8BF9-44B1D52B866F}" type="parTrans" cxnId="{CBC384E5-564D-4607-BBD6-95453F35A036}">
      <dgm:prSet/>
      <dgm:spPr/>
    </dgm:pt>
    <dgm:pt modelId="{C6C017EE-0608-4B6E-BF33-D55151E6D5FD}" type="sibTrans" cxnId="{CBC384E5-564D-4607-BBD6-95453F35A036}">
      <dgm:prSet/>
      <dgm:spPr/>
      <dgm:t>
        <a:bodyPr/>
        <a:lstStyle/>
        <a:p>
          <a:endParaRPr lang="en-US"/>
        </a:p>
      </dgm:t>
    </dgm:pt>
    <dgm:pt modelId="{54090DFF-E29B-4D01-8D61-34FF2AFC3593}" type="pres">
      <dgm:prSet presAssocID="{4B803667-5069-49DF-9E6A-6D6F79318641}" presName="Name0" presStyleCnt="0">
        <dgm:presLayoutVars>
          <dgm:dir/>
          <dgm:resizeHandles val="exact"/>
        </dgm:presLayoutVars>
      </dgm:prSet>
      <dgm:spPr/>
    </dgm:pt>
    <dgm:pt modelId="{5ACBFF90-D89B-4685-8AFD-2253BBF51D21}" type="pres">
      <dgm:prSet presAssocID="{4A363EC9-DBD1-4490-824A-2412788C591A}" presName="node" presStyleLbl="node1" presStyleIdx="0" presStyleCnt="3">
        <dgm:presLayoutVars>
          <dgm:bulletEnabled val="1"/>
        </dgm:presLayoutVars>
      </dgm:prSet>
      <dgm:spPr/>
    </dgm:pt>
    <dgm:pt modelId="{AFD6BB83-E41C-4593-9EA5-273E6E36106C}" type="pres">
      <dgm:prSet presAssocID="{E634C378-2EA4-4E2C-B902-825FC2DD9108}" presName="sibTrans" presStyleLbl="sibTrans2D1" presStyleIdx="0" presStyleCnt="2"/>
      <dgm:spPr/>
    </dgm:pt>
    <dgm:pt modelId="{E66C087F-1E87-4578-B315-B030E2E222CE}" type="pres">
      <dgm:prSet presAssocID="{E634C378-2EA4-4E2C-B902-825FC2DD9108}" presName="connectorText" presStyleLbl="sibTrans2D1" presStyleIdx="0" presStyleCnt="2"/>
      <dgm:spPr/>
    </dgm:pt>
    <dgm:pt modelId="{15997941-8702-462C-83AE-CE3F8FDCCF29}" type="pres">
      <dgm:prSet presAssocID="{9E87BEE5-9CB2-41CC-BEEA-64CA45EFE103}" presName="node" presStyleLbl="node1" presStyleIdx="1" presStyleCnt="3">
        <dgm:presLayoutVars>
          <dgm:bulletEnabled val="1"/>
        </dgm:presLayoutVars>
      </dgm:prSet>
      <dgm:spPr/>
    </dgm:pt>
    <dgm:pt modelId="{876E5472-D01A-4DB9-A143-0BC173871CB4}" type="pres">
      <dgm:prSet presAssocID="{C6C017EE-0608-4B6E-BF33-D55151E6D5FD}" presName="sibTrans" presStyleLbl="sibTrans2D1" presStyleIdx="1" presStyleCnt="2"/>
      <dgm:spPr/>
    </dgm:pt>
    <dgm:pt modelId="{9421BB69-3CE6-47F1-A075-6EB7D48BB0EB}" type="pres">
      <dgm:prSet presAssocID="{C6C017EE-0608-4B6E-BF33-D55151E6D5FD}" presName="connectorText" presStyleLbl="sibTrans2D1" presStyleIdx="1" presStyleCnt="2"/>
      <dgm:spPr/>
    </dgm:pt>
    <dgm:pt modelId="{E966E60C-7395-49F9-88A6-1C5BB1ABFE49}" type="pres">
      <dgm:prSet presAssocID="{445BBD6B-A4F9-4ED1-A0D6-37C9A98EFE53}" presName="node" presStyleLbl="node1" presStyleIdx="2" presStyleCnt="3">
        <dgm:presLayoutVars>
          <dgm:bulletEnabled val="1"/>
        </dgm:presLayoutVars>
      </dgm:prSet>
      <dgm:spPr/>
    </dgm:pt>
  </dgm:ptLst>
  <dgm:cxnLst>
    <dgm:cxn modelId="{2881A623-808B-4EDB-A7A3-D03F5896A087}" type="presOf" srcId="{4A363EC9-DBD1-4490-824A-2412788C591A}" destId="{5ACBFF90-D89B-4685-8AFD-2253BBF51D21}" srcOrd="0" destOrd="0" presId="urn:microsoft.com/office/officeart/2005/8/layout/process1"/>
    <dgm:cxn modelId="{BC373426-FF7B-46F4-A3C3-163261E041B0}" type="presOf" srcId="{E634C378-2EA4-4E2C-B902-825FC2DD9108}" destId="{E66C087F-1E87-4578-B315-B030E2E222CE}" srcOrd="1" destOrd="0" presId="urn:microsoft.com/office/officeart/2005/8/layout/process1"/>
    <dgm:cxn modelId="{19697C31-0D5D-4269-95BC-DC18F7E3D984}" type="presOf" srcId="{445BBD6B-A4F9-4ED1-A0D6-37C9A98EFE53}" destId="{E966E60C-7395-49F9-88A6-1C5BB1ABFE49}" srcOrd="0" destOrd="0" presId="urn:microsoft.com/office/officeart/2005/8/layout/process1"/>
    <dgm:cxn modelId="{E02E4948-F82B-4A6A-B9EF-200B6548B343}" srcId="{4B803667-5069-49DF-9E6A-6D6F79318641}" destId="{445BBD6B-A4F9-4ED1-A0D6-37C9A98EFE53}" srcOrd="2" destOrd="0" parTransId="{EE7485E8-12FD-4A36-B53B-11147C1702B4}" sibTransId="{901F045E-F96D-4E93-9127-C1667169B26F}"/>
    <dgm:cxn modelId="{1ECA9370-AAD3-4715-AB30-B5EDB55391AB}" srcId="{4B803667-5069-49DF-9E6A-6D6F79318641}" destId="{4A363EC9-DBD1-4490-824A-2412788C591A}" srcOrd="0" destOrd="0" parTransId="{AB3F52C3-797A-45E4-99A7-A83E98702FF6}" sibTransId="{E634C378-2EA4-4E2C-B902-825FC2DD9108}"/>
    <dgm:cxn modelId="{1E532386-CB17-4CBA-8250-8A41A163BFE5}" type="presOf" srcId="{C6C017EE-0608-4B6E-BF33-D55151E6D5FD}" destId="{9421BB69-3CE6-47F1-A075-6EB7D48BB0EB}" srcOrd="1" destOrd="0" presId="urn:microsoft.com/office/officeart/2005/8/layout/process1"/>
    <dgm:cxn modelId="{E92EF29E-4795-4A34-8B2C-2727BE9ACDF1}" type="presOf" srcId="{E634C378-2EA4-4E2C-B902-825FC2DD9108}" destId="{AFD6BB83-E41C-4593-9EA5-273E6E36106C}" srcOrd="0" destOrd="0" presId="urn:microsoft.com/office/officeart/2005/8/layout/process1"/>
    <dgm:cxn modelId="{CAC500A4-38E7-4C7A-AD78-7D0151AE54B3}" type="presOf" srcId="{4B803667-5069-49DF-9E6A-6D6F79318641}" destId="{54090DFF-E29B-4D01-8D61-34FF2AFC3593}" srcOrd="0" destOrd="0" presId="urn:microsoft.com/office/officeart/2005/8/layout/process1"/>
    <dgm:cxn modelId="{829E55D5-F3E1-4261-A3C7-85F93B2D4089}" type="presOf" srcId="{9E87BEE5-9CB2-41CC-BEEA-64CA45EFE103}" destId="{15997941-8702-462C-83AE-CE3F8FDCCF29}" srcOrd="0" destOrd="0" presId="urn:microsoft.com/office/officeart/2005/8/layout/process1"/>
    <dgm:cxn modelId="{CBC384E5-564D-4607-BBD6-95453F35A036}" srcId="{4B803667-5069-49DF-9E6A-6D6F79318641}" destId="{9E87BEE5-9CB2-41CC-BEEA-64CA45EFE103}" srcOrd="1" destOrd="0" parTransId="{954D0BB3-43FC-4E11-8BF9-44B1D52B866F}" sibTransId="{C6C017EE-0608-4B6E-BF33-D55151E6D5FD}"/>
    <dgm:cxn modelId="{0D6E37FA-E53A-4152-9494-F59A1D8383C6}" type="presOf" srcId="{C6C017EE-0608-4B6E-BF33-D55151E6D5FD}" destId="{876E5472-D01A-4DB9-A143-0BC173871CB4}" srcOrd="0" destOrd="0" presId="urn:microsoft.com/office/officeart/2005/8/layout/process1"/>
    <dgm:cxn modelId="{B2D59B1A-950E-4E45-A47D-779862C53352}" type="presParOf" srcId="{54090DFF-E29B-4D01-8D61-34FF2AFC3593}" destId="{5ACBFF90-D89B-4685-8AFD-2253BBF51D21}" srcOrd="0" destOrd="0" presId="urn:microsoft.com/office/officeart/2005/8/layout/process1"/>
    <dgm:cxn modelId="{6852C2F3-7206-4668-A4C1-E33D01FFB280}" type="presParOf" srcId="{54090DFF-E29B-4D01-8D61-34FF2AFC3593}" destId="{AFD6BB83-E41C-4593-9EA5-273E6E36106C}" srcOrd="1" destOrd="0" presId="urn:microsoft.com/office/officeart/2005/8/layout/process1"/>
    <dgm:cxn modelId="{2B06229C-3747-40F1-BA22-4D841B639847}" type="presParOf" srcId="{AFD6BB83-E41C-4593-9EA5-273E6E36106C}" destId="{E66C087F-1E87-4578-B315-B030E2E222CE}" srcOrd="0" destOrd="0" presId="urn:microsoft.com/office/officeart/2005/8/layout/process1"/>
    <dgm:cxn modelId="{03301B1C-CC30-4AF2-AC3E-2503773A9E44}" type="presParOf" srcId="{54090DFF-E29B-4D01-8D61-34FF2AFC3593}" destId="{15997941-8702-462C-83AE-CE3F8FDCCF29}" srcOrd="2" destOrd="0" presId="urn:microsoft.com/office/officeart/2005/8/layout/process1"/>
    <dgm:cxn modelId="{6B899241-FBEB-401E-A76F-7280DAB3CE09}" type="presParOf" srcId="{54090DFF-E29B-4D01-8D61-34FF2AFC3593}" destId="{876E5472-D01A-4DB9-A143-0BC173871CB4}" srcOrd="3" destOrd="0" presId="urn:microsoft.com/office/officeart/2005/8/layout/process1"/>
    <dgm:cxn modelId="{DE6656D6-61C6-47A0-ADE8-2E7FD09D9D09}" type="presParOf" srcId="{876E5472-D01A-4DB9-A143-0BC173871CB4}" destId="{9421BB69-3CE6-47F1-A075-6EB7D48BB0EB}" srcOrd="0" destOrd="0" presId="urn:microsoft.com/office/officeart/2005/8/layout/process1"/>
    <dgm:cxn modelId="{830EBD80-D603-4F42-BA15-2E796B40087B}" type="presParOf" srcId="{54090DFF-E29B-4D01-8D61-34FF2AFC3593}" destId="{E966E60C-7395-49F9-88A6-1C5BB1ABFE49}"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ACBFF90-D89B-4685-8AFD-2253BBF51D21}">
      <dsp:nvSpPr>
        <dsp:cNvPr id="0" name=""/>
        <dsp:cNvSpPr/>
      </dsp:nvSpPr>
      <dsp:spPr>
        <a:xfrm>
          <a:off x="9318" y="231497"/>
          <a:ext cx="2785123" cy="3847223"/>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rtl="0">
            <a:lnSpc>
              <a:spcPct val="90000"/>
            </a:lnSpc>
            <a:spcBef>
              <a:spcPct val="0"/>
            </a:spcBef>
            <a:spcAft>
              <a:spcPct val="35000"/>
            </a:spcAft>
            <a:buNone/>
          </a:pPr>
          <a:r>
            <a:rPr lang="en-US" sz="1800" kern="1200"/>
            <a:t>Input Layer: </a:t>
          </a:r>
          <a:r>
            <a:rPr lang="en-US" sz="1800" kern="1200">
              <a:latin typeface="Walbaum Display"/>
            </a:rPr>
            <a:t>Developer</a:t>
          </a:r>
          <a:r>
            <a:rPr lang="en-US" sz="1800" kern="1200"/>
            <a:t> runs the tool via CLI, providing a path to a repository, a short fix description, and optional flags </a:t>
          </a:r>
          <a:endParaRPr lang="en-US" sz="1800" kern="1200">
            <a:latin typeface="Walbaum Display"/>
          </a:endParaRPr>
        </a:p>
      </dsp:txBody>
      <dsp:txXfrm>
        <a:off x="90891" y="313070"/>
        <a:ext cx="2621977" cy="3684077"/>
      </dsp:txXfrm>
    </dsp:sp>
    <dsp:sp modelId="{AFD6BB83-E41C-4593-9EA5-273E6E36106C}">
      <dsp:nvSpPr>
        <dsp:cNvPr id="0" name=""/>
        <dsp:cNvSpPr/>
      </dsp:nvSpPr>
      <dsp:spPr>
        <a:xfrm>
          <a:off x="3072953" y="1809754"/>
          <a:ext cx="590446" cy="690710"/>
        </a:xfrm>
        <a:prstGeom prst="rightArrow">
          <a:avLst>
            <a:gd name="adj1" fmla="val 60000"/>
            <a:gd name="adj2" fmla="val 50000"/>
          </a:avLst>
        </a:prstGeom>
        <a:gradFill rotWithShape="0">
          <a:gsLst>
            <a:gs pos="0">
              <a:schemeClr val="accent2">
                <a:tint val="60000"/>
                <a:hueOff val="0"/>
                <a:satOff val="0"/>
                <a:lumOff val="0"/>
                <a:alphaOff val="0"/>
                <a:satMod val="103000"/>
                <a:lumMod val="102000"/>
                <a:tint val="94000"/>
              </a:schemeClr>
            </a:gs>
            <a:gs pos="50000">
              <a:schemeClr val="accent2">
                <a:tint val="60000"/>
                <a:hueOff val="0"/>
                <a:satOff val="0"/>
                <a:lumOff val="0"/>
                <a:alphaOff val="0"/>
                <a:satMod val="110000"/>
                <a:lumMod val="100000"/>
                <a:shade val="100000"/>
              </a:schemeClr>
            </a:gs>
            <a:gs pos="100000">
              <a:schemeClr val="accent2">
                <a:tint val="6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3072953" y="1947896"/>
        <a:ext cx="413312" cy="414426"/>
      </dsp:txXfrm>
    </dsp:sp>
    <dsp:sp modelId="{15997941-8702-462C-83AE-CE3F8FDCCF29}">
      <dsp:nvSpPr>
        <dsp:cNvPr id="0" name=""/>
        <dsp:cNvSpPr/>
      </dsp:nvSpPr>
      <dsp:spPr>
        <a:xfrm>
          <a:off x="3908490" y="231497"/>
          <a:ext cx="2785123" cy="3847223"/>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100000"/>
            </a:lnSpc>
            <a:spcBef>
              <a:spcPct val="0"/>
            </a:spcBef>
            <a:spcAft>
              <a:spcPct val="35000"/>
            </a:spcAft>
            <a:buNone/>
          </a:pPr>
          <a:r>
            <a:rPr lang="en-US" sz="1800" kern="1200"/>
            <a:t>Processing Layer: Our tool automatically handles everything: file collection, language and build system detection, dependency installation, compilation, debugging, error classification, and AI analysis</a:t>
          </a:r>
          <a:r>
            <a:rPr lang="en-US" sz="1800" kern="1200">
              <a:latin typeface="Walbaum Display"/>
            </a:rPr>
            <a:t>.</a:t>
          </a:r>
          <a:endParaRPr lang="en-US" sz="1800" kern="1200"/>
        </a:p>
      </dsp:txBody>
      <dsp:txXfrm>
        <a:off x="3990063" y="313070"/>
        <a:ext cx="2621977" cy="3684077"/>
      </dsp:txXfrm>
    </dsp:sp>
    <dsp:sp modelId="{876E5472-D01A-4DB9-A143-0BC173871CB4}">
      <dsp:nvSpPr>
        <dsp:cNvPr id="0" name=""/>
        <dsp:cNvSpPr/>
      </dsp:nvSpPr>
      <dsp:spPr>
        <a:xfrm>
          <a:off x="6972126" y="1809754"/>
          <a:ext cx="590446" cy="690710"/>
        </a:xfrm>
        <a:prstGeom prst="rightArrow">
          <a:avLst>
            <a:gd name="adj1" fmla="val 60000"/>
            <a:gd name="adj2" fmla="val 50000"/>
          </a:avLst>
        </a:prstGeom>
        <a:gradFill rotWithShape="0">
          <a:gsLst>
            <a:gs pos="0">
              <a:schemeClr val="accent2">
                <a:tint val="60000"/>
                <a:hueOff val="0"/>
                <a:satOff val="0"/>
                <a:lumOff val="0"/>
                <a:alphaOff val="0"/>
                <a:satMod val="103000"/>
                <a:lumMod val="102000"/>
                <a:tint val="94000"/>
              </a:schemeClr>
            </a:gs>
            <a:gs pos="50000">
              <a:schemeClr val="accent2">
                <a:tint val="60000"/>
                <a:hueOff val="0"/>
                <a:satOff val="0"/>
                <a:lumOff val="0"/>
                <a:alphaOff val="0"/>
                <a:satMod val="110000"/>
                <a:lumMod val="100000"/>
                <a:shade val="100000"/>
              </a:schemeClr>
            </a:gs>
            <a:gs pos="100000">
              <a:schemeClr val="accent2">
                <a:tint val="6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a:off x="6972126" y="1947896"/>
        <a:ext cx="413312" cy="414426"/>
      </dsp:txXfrm>
    </dsp:sp>
    <dsp:sp modelId="{E966E60C-7395-49F9-88A6-1C5BB1ABFE49}">
      <dsp:nvSpPr>
        <dsp:cNvPr id="0" name=""/>
        <dsp:cNvSpPr/>
      </dsp:nvSpPr>
      <dsp:spPr>
        <a:xfrm>
          <a:off x="7807663" y="231497"/>
          <a:ext cx="2785123" cy="3847223"/>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Output Layer: Results are displayed in the terminal as a structured debug report including detected errors, AI explanation, suggested fix, and the fix applied directly into the source file with a .</a:t>
          </a:r>
          <a:r>
            <a:rPr lang="en-US" sz="1800" kern="1200" err="1"/>
            <a:t>bak</a:t>
          </a:r>
          <a:r>
            <a:rPr lang="en-US" sz="1800" kern="1200"/>
            <a:t> backup. Optionally the full report including source code, compile output, error list, and AI analysis is saved as a JSON file.</a:t>
          </a:r>
        </a:p>
      </dsp:txBody>
      <dsp:txXfrm>
        <a:off x="7889236" y="313070"/>
        <a:ext cx="2621977" cy="3684077"/>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9D6F5-A9D4-C22B-732C-A31A172FB93C}"/>
              </a:ext>
            </a:extLst>
          </p:cNvPr>
          <p:cNvSpPr>
            <a:spLocks noGrp="1"/>
          </p:cNvSpPr>
          <p:nvPr>
            <p:ph type="ctrTitle"/>
          </p:nvPr>
        </p:nvSpPr>
        <p:spPr>
          <a:xfrm>
            <a:off x="1524000" y="1122363"/>
            <a:ext cx="9144000" cy="2209393"/>
          </a:xfrm>
        </p:spPr>
        <p:txBody>
          <a:bodyPr anchor="b">
            <a:normAutofit/>
          </a:bodyPr>
          <a:lstStyle>
            <a:lvl1pPr algn="ctr">
              <a:defRPr sz="3600"/>
            </a:lvl1pPr>
          </a:lstStyle>
          <a:p>
            <a:r>
              <a:rPr lang="en-US"/>
              <a:t>Click to edit Master title style</a:t>
            </a:r>
          </a:p>
        </p:txBody>
      </p:sp>
      <p:sp>
        <p:nvSpPr>
          <p:cNvPr id="3" name="Subtitle 2">
            <a:extLst>
              <a:ext uri="{FF2B5EF4-FFF2-40B4-BE49-F238E27FC236}">
                <a16:creationId xmlns:a16="http://schemas.microsoft.com/office/drawing/2014/main" id="{E11AFD6E-3459-290F-1147-F0C47ACEEA5B}"/>
              </a:ext>
            </a:extLst>
          </p:cNvPr>
          <p:cNvSpPr>
            <a:spLocks noGrp="1"/>
          </p:cNvSpPr>
          <p:nvPr>
            <p:ph type="subTitle" idx="1"/>
          </p:nvPr>
        </p:nvSpPr>
        <p:spPr>
          <a:xfrm>
            <a:off x="1524000" y="4346774"/>
            <a:ext cx="9144000" cy="1066890"/>
          </a:xfrm>
        </p:spPr>
        <p:txBody>
          <a:bodyPr anchor="t">
            <a:normAutofit/>
          </a:bodyPr>
          <a:lstStyle>
            <a:lvl1pPr marL="0" indent="0" algn="ctr">
              <a:buNone/>
              <a:defRPr sz="1600" cap="all" spc="300" baseline="0"/>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54674D3-6FB9-5549-B0F2-FD61E82D1FF1}"/>
              </a:ext>
            </a:extLst>
          </p:cNvPr>
          <p:cNvSpPr>
            <a:spLocks noGrp="1"/>
          </p:cNvSpPr>
          <p:nvPr>
            <p:ph type="dt" sz="half" idx="10"/>
          </p:nvPr>
        </p:nvSpPr>
        <p:spPr/>
        <p:txBody>
          <a:bodyPr/>
          <a:lstStyle/>
          <a:p>
            <a:fld id="{807E39B8-A7CB-4B82-AC0C-44B99F546761}" type="datetimeFigureOut">
              <a:rPr lang="en-US" dirty="0"/>
              <a:t>6/22/2026</a:t>
            </a:fld>
            <a:endParaRPr lang="en-US"/>
          </a:p>
        </p:txBody>
      </p:sp>
      <p:sp>
        <p:nvSpPr>
          <p:cNvPr id="5" name="Footer Placeholder 4">
            <a:extLst>
              <a:ext uri="{FF2B5EF4-FFF2-40B4-BE49-F238E27FC236}">
                <a16:creationId xmlns:a16="http://schemas.microsoft.com/office/drawing/2014/main" id="{AB239BBC-C979-2C77-493E-CF5498AEB5DB}"/>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53813B7E-A51C-D9CD-2189-650A9D63BFF9}"/>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364104403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155F0-A6D4-C39B-394F-0B16E9C9CE8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D1860F-B260-57CE-E12B-2C94860319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745C9F-D94D-E5D3-B73A-20621FA536D5}"/>
              </a:ext>
            </a:extLst>
          </p:cNvPr>
          <p:cNvSpPr>
            <a:spLocks noGrp="1"/>
          </p:cNvSpPr>
          <p:nvPr>
            <p:ph type="dt" sz="half" idx="10"/>
          </p:nvPr>
        </p:nvSpPr>
        <p:spPr/>
        <p:txBody>
          <a:bodyPr/>
          <a:lstStyle/>
          <a:p>
            <a:fld id="{FE7E3940-CA92-4FEE-A698-62CF7BC5AC36}" type="datetimeFigureOut">
              <a:rPr lang="en-US" dirty="0"/>
              <a:t>6/22/2026</a:t>
            </a:fld>
            <a:endParaRPr lang="en-US"/>
          </a:p>
        </p:txBody>
      </p:sp>
      <p:sp>
        <p:nvSpPr>
          <p:cNvPr id="5" name="Footer Placeholder 4">
            <a:extLst>
              <a:ext uri="{FF2B5EF4-FFF2-40B4-BE49-F238E27FC236}">
                <a16:creationId xmlns:a16="http://schemas.microsoft.com/office/drawing/2014/main" id="{E5FAB243-BB42-966A-4708-15C9B11D6885}"/>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D5C3A3BD-2CC5-03D3-4CD6-E31A55BA2D23}"/>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11606172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D8633-AC3B-E617-1C54-84932DDD72E5}"/>
              </a:ext>
            </a:extLst>
          </p:cNvPr>
          <p:cNvSpPr>
            <a:spLocks noGrp="1"/>
          </p:cNvSpPr>
          <p:nvPr>
            <p:ph type="title"/>
          </p:nvPr>
        </p:nvSpPr>
        <p:spPr>
          <a:xfrm>
            <a:off x="1474236" y="1514688"/>
            <a:ext cx="8584164" cy="3138875"/>
          </a:xfrm>
        </p:spPr>
        <p:txBody>
          <a:bodyPr anchor="b">
            <a:normAutofit/>
          </a:bodyPr>
          <a:lstStyle>
            <a:lvl1pPr>
              <a:defRPr sz="3600" cap="all" spc="300" baseline="0"/>
            </a:lvl1pPr>
          </a:lstStyle>
          <a:p>
            <a:r>
              <a:rPr lang="en-US"/>
              <a:t>Click to edit Master title style</a:t>
            </a:r>
          </a:p>
        </p:txBody>
      </p:sp>
      <p:sp>
        <p:nvSpPr>
          <p:cNvPr id="3" name="Text Placeholder 2">
            <a:extLst>
              <a:ext uri="{FF2B5EF4-FFF2-40B4-BE49-F238E27FC236}">
                <a16:creationId xmlns:a16="http://schemas.microsoft.com/office/drawing/2014/main" id="{CF68C242-ECAB-AEC3-7E9B-F9854AF31CD2}"/>
              </a:ext>
            </a:extLst>
          </p:cNvPr>
          <p:cNvSpPr>
            <a:spLocks noGrp="1"/>
          </p:cNvSpPr>
          <p:nvPr>
            <p:ph type="body" idx="1"/>
          </p:nvPr>
        </p:nvSpPr>
        <p:spPr>
          <a:xfrm>
            <a:off x="1474236" y="4963885"/>
            <a:ext cx="8584165" cy="1125765"/>
          </a:xfrm>
        </p:spPr>
        <p:txBody>
          <a:bodyPr>
            <a:normAutofit/>
          </a:bodyPr>
          <a:lstStyle>
            <a:lvl1pPr marL="0" indent="0">
              <a:buNone/>
              <a:defRPr sz="1600" cap="all" spc="300" baseline="0">
                <a:solidFill>
                  <a:schemeClr val="tx2"/>
                </a:solidFill>
              </a:defRPr>
            </a:lvl1pPr>
            <a:lvl2pPr marL="457200" indent="0">
              <a:buNone/>
              <a:defRPr sz="1600">
                <a:solidFill>
                  <a:schemeClr val="tx1">
                    <a:tint val="82000"/>
                  </a:schemeClr>
                </a:solidFill>
              </a:defRPr>
            </a:lvl2pPr>
            <a:lvl3pPr marL="914400" indent="0">
              <a:buNone/>
              <a:defRPr sz="16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0D9B82-EEF4-2CD7-61FE-BAFB2B96D641}"/>
              </a:ext>
            </a:extLst>
          </p:cNvPr>
          <p:cNvSpPr>
            <a:spLocks noGrp="1"/>
          </p:cNvSpPr>
          <p:nvPr>
            <p:ph type="dt" sz="half" idx="10"/>
          </p:nvPr>
        </p:nvSpPr>
        <p:spPr/>
        <p:txBody>
          <a:bodyPr/>
          <a:lstStyle/>
          <a:p>
            <a:fld id="{E33CD641-6C35-45D1-9313-2719E9EA8AD8}" type="datetimeFigureOut">
              <a:rPr lang="en-US" dirty="0"/>
              <a:t>6/22/2026</a:t>
            </a:fld>
            <a:endParaRPr lang="en-US"/>
          </a:p>
        </p:txBody>
      </p:sp>
      <p:sp>
        <p:nvSpPr>
          <p:cNvPr id="5" name="Footer Placeholder 4">
            <a:extLst>
              <a:ext uri="{FF2B5EF4-FFF2-40B4-BE49-F238E27FC236}">
                <a16:creationId xmlns:a16="http://schemas.microsoft.com/office/drawing/2014/main" id="{59A222B6-F7A8-70A5-B023-FCAD5D7C4BB1}"/>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4E85D758-2E38-8A8D-75BC-667F6A23B95B}"/>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20431239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60DFF-11BD-F5F4-35D4-1986ABBD36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C5D1279-E9A9-702E-144D-61114B788E88}"/>
              </a:ext>
            </a:extLst>
          </p:cNvPr>
          <p:cNvSpPr>
            <a:spLocks noGrp="1"/>
          </p:cNvSpPr>
          <p:nvPr>
            <p:ph sz="half" idx="1"/>
          </p:nvPr>
        </p:nvSpPr>
        <p:spPr>
          <a:xfrm>
            <a:off x="877824" y="2159175"/>
            <a:ext cx="4977453" cy="40177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584E624-7A76-56EC-FA0D-E2AA8EF9B951}"/>
              </a:ext>
            </a:extLst>
          </p:cNvPr>
          <p:cNvSpPr>
            <a:spLocks noGrp="1"/>
          </p:cNvSpPr>
          <p:nvPr>
            <p:ph sz="half" idx="2"/>
          </p:nvPr>
        </p:nvSpPr>
        <p:spPr>
          <a:xfrm>
            <a:off x="6328391" y="2159175"/>
            <a:ext cx="4985785" cy="40177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99D7DF5-30AD-AE47-D516-5CEE82770734}"/>
              </a:ext>
            </a:extLst>
          </p:cNvPr>
          <p:cNvSpPr>
            <a:spLocks noGrp="1"/>
          </p:cNvSpPr>
          <p:nvPr>
            <p:ph type="dt" sz="half" idx="10"/>
          </p:nvPr>
        </p:nvSpPr>
        <p:spPr/>
        <p:txBody>
          <a:bodyPr/>
          <a:lstStyle/>
          <a:p>
            <a:fld id="{35301268-3A74-4110-8F08-063DFB8BB885}" type="datetimeFigureOut">
              <a:rPr lang="en-US" dirty="0"/>
              <a:t>6/22/2026</a:t>
            </a:fld>
            <a:endParaRPr lang="en-US"/>
          </a:p>
        </p:txBody>
      </p:sp>
      <p:sp>
        <p:nvSpPr>
          <p:cNvPr id="6" name="Footer Placeholder 5">
            <a:extLst>
              <a:ext uri="{FF2B5EF4-FFF2-40B4-BE49-F238E27FC236}">
                <a16:creationId xmlns:a16="http://schemas.microsoft.com/office/drawing/2014/main" id="{8B05C503-B649-B083-6341-F6E376AF8C72}"/>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1E53EA35-CF5A-DB36-8B14-5C184B6F14D3}"/>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37094664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BA3D8-FDD9-329B-BCC6-BBF47F01BEE2}"/>
              </a:ext>
            </a:extLst>
          </p:cNvPr>
          <p:cNvSpPr>
            <a:spLocks noGrp="1"/>
          </p:cNvSpPr>
          <p:nvPr>
            <p:ph type="title"/>
          </p:nvPr>
        </p:nvSpPr>
        <p:spPr>
          <a:xfrm>
            <a:off x="881348" y="602671"/>
            <a:ext cx="10429303" cy="768928"/>
          </a:xfrm>
        </p:spPr>
        <p:txBody>
          <a:bodyPr/>
          <a:lstStyle/>
          <a:p>
            <a:r>
              <a:rPr lang="en-US"/>
              <a:t>Click to edit Master title style</a:t>
            </a:r>
          </a:p>
        </p:txBody>
      </p:sp>
      <p:sp>
        <p:nvSpPr>
          <p:cNvPr id="3" name="Text Placeholder 2">
            <a:extLst>
              <a:ext uri="{FF2B5EF4-FFF2-40B4-BE49-F238E27FC236}">
                <a16:creationId xmlns:a16="http://schemas.microsoft.com/office/drawing/2014/main" id="{82EEF7DC-0699-CB3C-A7CB-39035D89A4A5}"/>
              </a:ext>
            </a:extLst>
          </p:cNvPr>
          <p:cNvSpPr>
            <a:spLocks noGrp="1"/>
          </p:cNvSpPr>
          <p:nvPr>
            <p:ph type="body" idx="1"/>
          </p:nvPr>
        </p:nvSpPr>
        <p:spPr>
          <a:xfrm>
            <a:off x="881349" y="1696325"/>
            <a:ext cx="4963538" cy="647700"/>
          </a:xfrm>
        </p:spPr>
        <p:txBody>
          <a:bodyPr anchor="b">
            <a:noAutofit/>
          </a:bodyPr>
          <a:lstStyle>
            <a:lvl1pPr marL="0" indent="0">
              <a:buNone/>
              <a:defRPr sz="1400" b="1" cap="all" spc="300" baseline="0"/>
            </a:lvl1pPr>
            <a:lvl2pPr marL="457200" indent="0">
              <a:buNone/>
              <a:defRPr sz="1400" b="1"/>
            </a:lvl2pPr>
            <a:lvl3pPr marL="914400" indent="0">
              <a:buNone/>
              <a:defRPr sz="1400" b="1"/>
            </a:lvl3pPr>
            <a:lvl4pPr marL="1371600" indent="0">
              <a:buNone/>
              <a:defRPr sz="1400" b="1"/>
            </a:lvl4pPr>
            <a:lvl5pPr marL="1828800" indent="0">
              <a:buNone/>
              <a:defRPr sz="1400" b="1"/>
            </a:lvl5pPr>
            <a:lvl6pPr marL="2286000" indent="0">
              <a:buNone/>
              <a:defRPr sz="1400" b="1"/>
            </a:lvl6pPr>
            <a:lvl7pPr marL="2743200" indent="0">
              <a:buNone/>
              <a:defRPr sz="1400" b="1"/>
            </a:lvl7pPr>
            <a:lvl8pPr marL="3200400" indent="0">
              <a:buNone/>
              <a:defRPr sz="1400" b="1"/>
            </a:lvl8pPr>
            <a:lvl9pPr marL="3657600" indent="0">
              <a:buNone/>
              <a:defRPr sz="1400" b="1"/>
            </a:lvl9pPr>
          </a:lstStyle>
          <a:p>
            <a:pPr lvl="0"/>
            <a:r>
              <a:rPr lang="en-US"/>
              <a:t>Click to edit Master text styles</a:t>
            </a:r>
          </a:p>
        </p:txBody>
      </p:sp>
      <p:sp>
        <p:nvSpPr>
          <p:cNvPr id="4" name="Content Placeholder 3">
            <a:extLst>
              <a:ext uri="{FF2B5EF4-FFF2-40B4-BE49-F238E27FC236}">
                <a16:creationId xmlns:a16="http://schemas.microsoft.com/office/drawing/2014/main" id="{D252EB40-99E1-CCA4-BAFA-F51AA56CF295}"/>
              </a:ext>
            </a:extLst>
          </p:cNvPr>
          <p:cNvSpPr>
            <a:spLocks noGrp="1"/>
          </p:cNvSpPr>
          <p:nvPr>
            <p:ph sz="half" idx="2"/>
          </p:nvPr>
        </p:nvSpPr>
        <p:spPr>
          <a:xfrm>
            <a:off x="881349" y="2344025"/>
            <a:ext cx="4963538" cy="38333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38979BC-6B50-751D-D569-F360938B05C8}"/>
              </a:ext>
            </a:extLst>
          </p:cNvPr>
          <p:cNvSpPr>
            <a:spLocks noGrp="1"/>
          </p:cNvSpPr>
          <p:nvPr>
            <p:ph type="body" sz="quarter" idx="3"/>
          </p:nvPr>
        </p:nvSpPr>
        <p:spPr>
          <a:xfrm>
            <a:off x="6322669" y="1696325"/>
            <a:ext cx="4987982" cy="647700"/>
          </a:xfrm>
        </p:spPr>
        <p:txBody>
          <a:bodyPr anchor="b">
            <a:noAutofit/>
          </a:bodyPr>
          <a:lstStyle>
            <a:lvl1pPr marL="0" indent="0">
              <a:buNone/>
              <a:defRPr sz="1400" b="1" cap="all" spc="300" baseline="0"/>
            </a:lvl1pPr>
            <a:lvl2pPr marL="457200" indent="0">
              <a:buNone/>
              <a:defRPr sz="1400" b="1"/>
            </a:lvl2pPr>
            <a:lvl3pPr marL="914400" indent="0">
              <a:buNone/>
              <a:defRPr sz="1400" b="1"/>
            </a:lvl3pPr>
            <a:lvl4pPr marL="1371600" indent="0">
              <a:buNone/>
              <a:defRPr sz="1400" b="1"/>
            </a:lvl4pPr>
            <a:lvl5pPr marL="1828800" indent="0">
              <a:buNone/>
              <a:defRPr sz="1400" b="1"/>
            </a:lvl5pPr>
            <a:lvl6pPr marL="2286000" indent="0">
              <a:buNone/>
              <a:defRPr sz="1400" b="1"/>
            </a:lvl6pPr>
            <a:lvl7pPr marL="2743200" indent="0">
              <a:buNone/>
              <a:defRPr sz="1400" b="1"/>
            </a:lvl7pPr>
            <a:lvl8pPr marL="3200400" indent="0">
              <a:buNone/>
              <a:defRPr sz="1400" b="1"/>
            </a:lvl8pPr>
            <a:lvl9pPr marL="3657600" indent="0">
              <a:buNone/>
              <a:defRPr sz="1400" b="1"/>
            </a:lvl9pPr>
          </a:lstStyle>
          <a:p>
            <a:pPr lvl="0"/>
            <a:r>
              <a:rPr lang="en-US"/>
              <a:t>Click to edit Master text styles</a:t>
            </a:r>
          </a:p>
        </p:txBody>
      </p:sp>
      <p:sp>
        <p:nvSpPr>
          <p:cNvPr id="6" name="Content Placeholder 5">
            <a:extLst>
              <a:ext uri="{FF2B5EF4-FFF2-40B4-BE49-F238E27FC236}">
                <a16:creationId xmlns:a16="http://schemas.microsoft.com/office/drawing/2014/main" id="{84A3A26F-230E-2D25-6BDC-6ECA00FAEFD5}"/>
              </a:ext>
            </a:extLst>
          </p:cNvPr>
          <p:cNvSpPr>
            <a:spLocks noGrp="1"/>
          </p:cNvSpPr>
          <p:nvPr>
            <p:ph sz="quarter" idx="4"/>
          </p:nvPr>
        </p:nvSpPr>
        <p:spPr>
          <a:xfrm>
            <a:off x="6322669" y="2344025"/>
            <a:ext cx="4987982" cy="38333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8182A01-DE7C-3BA4-96FF-CDEF2F608FCA}"/>
              </a:ext>
            </a:extLst>
          </p:cNvPr>
          <p:cNvSpPr>
            <a:spLocks noGrp="1"/>
          </p:cNvSpPr>
          <p:nvPr>
            <p:ph type="dt" sz="half" idx="10"/>
          </p:nvPr>
        </p:nvSpPr>
        <p:spPr/>
        <p:txBody>
          <a:bodyPr/>
          <a:lstStyle/>
          <a:p>
            <a:fld id="{BF91C1AF-C1FB-48A7-98B4-E595E63F6614}" type="datetimeFigureOut">
              <a:rPr lang="en-US" dirty="0"/>
              <a:t>6/22/2026</a:t>
            </a:fld>
            <a:endParaRPr lang="en-US"/>
          </a:p>
        </p:txBody>
      </p:sp>
      <p:sp>
        <p:nvSpPr>
          <p:cNvPr id="8" name="Footer Placeholder 7">
            <a:extLst>
              <a:ext uri="{FF2B5EF4-FFF2-40B4-BE49-F238E27FC236}">
                <a16:creationId xmlns:a16="http://schemas.microsoft.com/office/drawing/2014/main" id="{6FCAA828-0166-8ECD-BCE8-654BEFDD7155}"/>
              </a:ext>
            </a:extLst>
          </p:cNvPr>
          <p:cNvSpPr>
            <a:spLocks noGrp="1"/>
          </p:cNvSpPr>
          <p:nvPr>
            <p:ph type="ftr" sz="quarter" idx="11"/>
          </p:nvPr>
        </p:nvSpPr>
        <p:spPr/>
        <p:txBody>
          <a:bodyPr/>
          <a:lstStyle/>
          <a:p>
            <a:r>
              <a:rPr lang="en-US"/>
              <a:t>
              </a:t>
            </a:r>
          </a:p>
        </p:txBody>
      </p:sp>
      <p:sp>
        <p:nvSpPr>
          <p:cNvPr id="9" name="Slide Number Placeholder 8">
            <a:extLst>
              <a:ext uri="{FF2B5EF4-FFF2-40B4-BE49-F238E27FC236}">
                <a16:creationId xmlns:a16="http://schemas.microsoft.com/office/drawing/2014/main" id="{7690C0D2-459A-04AA-FD90-7687D2FE8A9D}"/>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35514852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D549F-FA71-857F-E02E-3CB63CE683E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F569611-F911-D3D4-B613-ACCDA56C45D2}"/>
              </a:ext>
            </a:extLst>
          </p:cNvPr>
          <p:cNvSpPr>
            <a:spLocks noGrp="1"/>
          </p:cNvSpPr>
          <p:nvPr>
            <p:ph type="dt" sz="half" idx="10"/>
          </p:nvPr>
        </p:nvSpPr>
        <p:spPr/>
        <p:txBody>
          <a:bodyPr/>
          <a:lstStyle/>
          <a:p>
            <a:fld id="{97144C44-5F8C-4BEA-BBCE-8694F126DC43}" type="datetimeFigureOut">
              <a:rPr lang="en-US" dirty="0"/>
              <a:t>6/22/2026</a:t>
            </a:fld>
            <a:endParaRPr lang="en-US"/>
          </a:p>
        </p:txBody>
      </p:sp>
      <p:sp>
        <p:nvSpPr>
          <p:cNvPr id="4" name="Footer Placeholder 3">
            <a:extLst>
              <a:ext uri="{FF2B5EF4-FFF2-40B4-BE49-F238E27FC236}">
                <a16:creationId xmlns:a16="http://schemas.microsoft.com/office/drawing/2014/main" id="{F6EA1961-0B6B-8FEB-F2CB-C42E90EF2DFD}"/>
              </a:ext>
            </a:extLst>
          </p:cNvPr>
          <p:cNvSpPr>
            <a:spLocks noGrp="1"/>
          </p:cNvSpPr>
          <p:nvPr>
            <p:ph type="ftr" sz="quarter" idx="11"/>
          </p:nvPr>
        </p:nvSpPr>
        <p:spPr/>
        <p:txBody>
          <a:bodyPr/>
          <a:lstStyle/>
          <a:p>
            <a:r>
              <a:rPr lang="en-US"/>
              <a:t>
              </a:t>
            </a:r>
          </a:p>
        </p:txBody>
      </p:sp>
      <p:sp>
        <p:nvSpPr>
          <p:cNvPr id="5" name="Slide Number Placeholder 4">
            <a:extLst>
              <a:ext uri="{FF2B5EF4-FFF2-40B4-BE49-F238E27FC236}">
                <a16:creationId xmlns:a16="http://schemas.microsoft.com/office/drawing/2014/main" id="{F42AA80E-3139-9F1B-9C3E-2A76628CF4F8}"/>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7751320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AF54789-9F96-511A-0FB6-24F6A8418C72}"/>
              </a:ext>
            </a:extLst>
          </p:cNvPr>
          <p:cNvSpPr>
            <a:spLocks noGrp="1"/>
          </p:cNvSpPr>
          <p:nvPr>
            <p:ph type="dt" sz="half" idx="10"/>
          </p:nvPr>
        </p:nvSpPr>
        <p:spPr/>
        <p:txBody>
          <a:bodyPr/>
          <a:lstStyle/>
          <a:p>
            <a:fld id="{039E56F9-C8F2-4EF7-8042-704C94FF2795}" type="datetimeFigureOut">
              <a:rPr lang="en-US" dirty="0"/>
              <a:t>6/22/2026</a:t>
            </a:fld>
            <a:endParaRPr lang="en-US"/>
          </a:p>
        </p:txBody>
      </p:sp>
      <p:sp>
        <p:nvSpPr>
          <p:cNvPr id="3" name="Footer Placeholder 2">
            <a:extLst>
              <a:ext uri="{FF2B5EF4-FFF2-40B4-BE49-F238E27FC236}">
                <a16:creationId xmlns:a16="http://schemas.microsoft.com/office/drawing/2014/main" id="{8B780399-ADEF-8F74-9F59-6AD804C9393E}"/>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95B6A34F-ABAB-9C4E-38A1-C6EEB944B97C}"/>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35803731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E3917-2BF6-1CE2-F34B-49F0D09A1B91}"/>
              </a:ext>
            </a:extLst>
          </p:cNvPr>
          <p:cNvSpPr>
            <a:spLocks noGrp="1"/>
          </p:cNvSpPr>
          <p:nvPr>
            <p:ph type="title"/>
          </p:nvPr>
        </p:nvSpPr>
        <p:spPr>
          <a:xfrm>
            <a:off x="839788" y="807868"/>
            <a:ext cx="3640713" cy="2062594"/>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40815B8F-A9F3-8583-FFF1-175021F17AF0}"/>
              </a:ext>
            </a:extLst>
          </p:cNvPr>
          <p:cNvSpPr>
            <a:spLocks noGrp="1"/>
          </p:cNvSpPr>
          <p:nvPr>
            <p:ph idx="1"/>
          </p:nvPr>
        </p:nvSpPr>
        <p:spPr>
          <a:xfrm>
            <a:off x="5432898" y="807867"/>
            <a:ext cx="5922489" cy="5053183"/>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5D90AFF-A949-CE9E-6B94-C1B619612915}"/>
              </a:ext>
            </a:extLst>
          </p:cNvPr>
          <p:cNvSpPr>
            <a:spLocks noGrp="1"/>
          </p:cNvSpPr>
          <p:nvPr>
            <p:ph type="body" sz="half" idx="2"/>
          </p:nvPr>
        </p:nvSpPr>
        <p:spPr>
          <a:xfrm>
            <a:off x="839788" y="3000652"/>
            <a:ext cx="3640713" cy="2868336"/>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95267E-088F-FB9A-9469-551890F29F01}"/>
              </a:ext>
            </a:extLst>
          </p:cNvPr>
          <p:cNvSpPr>
            <a:spLocks noGrp="1"/>
          </p:cNvSpPr>
          <p:nvPr>
            <p:ph type="dt" sz="half" idx="10"/>
          </p:nvPr>
        </p:nvSpPr>
        <p:spPr/>
        <p:txBody>
          <a:bodyPr/>
          <a:lstStyle/>
          <a:p>
            <a:fld id="{4F6932DF-953D-44BD-83F8-5D8DA76EA12A}" type="datetimeFigureOut">
              <a:rPr lang="en-US" dirty="0"/>
              <a:t>6/22/2026</a:t>
            </a:fld>
            <a:endParaRPr lang="en-US"/>
          </a:p>
        </p:txBody>
      </p:sp>
      <p:sp>
        <p:nvSpPr>
          <p:cNvPr id="6" name="Footer Placeholder 5">
            <a:extLst>
              <a:ext uri="{FF2B5EF4-FFF2-40B4-BE49-F238E27FC236}">
                <a16:creationId xmlns:a16="http://schemas.microsoft.com/office/drawing/2014/main" id="{38EA3FFC-B3A6-C0B6-5DAE-70BE0D6FBD69}"/>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B108D35F-BC2E-8D14-060F-449CBAF7C0D2}"/>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26626615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909ED-ED97-A3CE-5569-77B45F41450A}"/>
              </a:ext>
            </a:extLst>
          </p:cNvPr>
          <p:cNvSpPr>
            <a:spLocks noGrp="1"/>
          </p:cNvSpPr>
          <p:nvPr>
            <p:ph type="title"/>
          </p:nvPr>
        </p:nvSpPr>
        <p:spPr>
          <a:xfrm>
            <a:off x="839788" y="820881"/>
            <a:ext cx="3639312" cy="2062595"/>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0683BB3A-9E24-DE4C-9619-1502F1B6F389}"/>
              </a:ext>
            </a:extLst>
          </p:cNvPr>
          <p:cNvSpPr>
            <a:spLocks noGrp="1" noChangeAspect="1"/>
          </p:cNvSpPr>
          <p:nvPr>
            <p:ph type="pic" idx="1"/>
          </p:nvPr>
        </p:nvSpPr>
        <p:spPr>
          <a:xfrm>
            <a:off x="5247408" y="919595"/>
            <a:ext cx="6107979" cy="5013614"/>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94B4CE1F-29E0-88BB-8489-E58236B8B17B}"/>
              </a:ext>
            </a:extLst>
          </p:cNvPr>
          <p:cNvSpPr>
            <a:spLocks noGrp="1"/>
          </p:cNvSpPr>
          <p:nvPr>
            <p:ph type="body" sz="half" idx="2"/>
          </p:nvPr>
        </p:nvSpPr>
        <p:spPr>
          <a:xfrm>
            <a:off x="839788" y="3000652"/>
            <a:ext cx="3643889" cy="2868336"/>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24B7212-6816-FFD1-50B2-58844AD38E26}"/>
              </a:ext>
            </a:extLst>
          </p:cNvPr>
          <p:cNvSpPr>
            <a:spLocks noGrp="1"/>
          </p:cNvSpPr>
          <p:nvPr>
            <p:ph type="dt" sz="half" idx="10"/>
          </p:nvPr>
        </p:nvSpPr>
        <p:spPr/>
        <p:txBody>
          <a:bodyPr/>
          <a:lstStyle/>
          <a:p>
            <a:fld id="{352F326D-65F4-4B2F-9A62-9E4BD9402C47}" type="datetimeFigureOut">
              <a:rPr lang="en-US" dirty="0"/>
              <a:t>6/22/2026</a:t>
            </a:fld>
            <a:endParaRPr lang="en-US"/>
          </a:p>
        </p:txBody>
      </p:sp>
      <p:sp>
        <p:nvSpPr>
          <p:cNvPr id="6" name="Footer Placeholder 5">
            <a:extLst>
              <a:ext uri="{FF2B5EF4-FFF2-40B4-BE49-F238E27FC236}">
                <a16:creationId xmlns:a16="http://schemas.microsoft.com/office/drawing/2014/main" id="{A2417744-5A24-B7B7-5FD6-E98E60832F27}"/>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14CDA4D1-A71D-A7A6-3D0C-294E5D280BE8}"/>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39774202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990AE-F72C-4C2E-E2D0-7A8D7EEF08C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F41B46D-142E-8C8E-C4F4-B6B1586A6F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4D92E3-36AD-2615-0166-6B73C34F10FA}"/>
              </a:ext>
            </a:extLst>
          </p:cNvPr>
          <p:cNvSpPr>
            <a:spLocks noGrp="1"/>
          </p:cNvSpPr>
          <p:nvPr>
            <p:ph type="dt" sz="half" idx="10"/>
          </p:nvPr>
        </p:nvSpPr>
        <p:spPr/>
        <p:txBody>
          <a:bodyPr/>
          <a:lstStyle/>
          <a:p>
            <a:fld id="{01742F6F-0846-489A-A4BC-61B476BE2887}" type="datetimeFigureOut">
              <a:rPr lang="en-US" dirty="0"/>
              <a:t>6/22/2026</a:t>
            </a:fld>
            <a:endParaRPr lang="en-US"/>
          </a:p>
        </p:txBody>
      </p:sp>
      <p:sp>
        <p:nvSpPr>
          <p:cNvPr id="5" name="Footer Placeholder 4">
            <a:extLst>
              <a:ext uri="{FF2B5EF4-FFF2-40B4-BE49-F238E27FC236}">
                <a16:creationId xmlns:a16="http://schemas.microsoft.com/office/drawing/2014/main" id="{F10BFB69-319D-2284-2734-217160D396D7}"/>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1A6883B0-C775-5BD2-8EC6-A41D19BCA156}"/>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9482718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9040463-6D41-8D45-088A-540B0D18838A}"/>
              </a:ext>
            </a:extLst>
          </p:cNvPr>
          <p:cNvSpPr>
            <a:spLocks noGrp="1"/>
          </p:cNvSpPr>
          <p:nvPr>
            <p:ph type="title" orient="vert"/>
          </p:nvPr>
        </p:nvSpPr>
        <p:spPr>
          <a:xfrm>
            <a:off x="8724900" y="592281"/>
            <a:ext cx="2628900" cy="5584681"/>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B5F2276-7F04-F3F7-E3CE-F81C8DC637DC}"/>
              </a:ext>
            </a:extLst>
          </p:cNvPr>
          <p:cNvSpPr>
            <a:spLocks noGrp="1"/>
          </p:cNvSpPr>
          <p:nvPr>
            <p:ph type="body" orient="vert" idx="1"/>
          </p:nvPr>
        </p:nvSpPr>
        <p:spPr>
          <a:xfrm>
            <a:off x="838200" y="592281"/>
            <a:ext cx="7734300" cy="558468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1802BF-9E0C-3251-8FAE-81F07DB05344}"/>
              </a:ext>
            </a:extLst>
          </p:cNvPr>
          <p:cNvSpPr>
            <a:spLocks noGrp="1"/>
          </p:cNvSpPr>
          <p:nvPr>
            <p:ph type="dt" sz="half" idx="10"/>
          </p:nvPr>
        </p:nvSpPr>
        <p:spPr/>
        <p:txBody>
          <a:bodyPr/>
          <a:lstStyle/>
          <a:p>
            <a:fld id="{B229DF21-A340-467A-94AB-9502647BB771}" type="datetimeFigureOut">
              <a:rPr lang="en-US" dirty="0"/>
              <a:t>6/22/2026</a:t>
            </a:fld>
            <a:endParaRPr lang="en-US"/>
          </a:p>
        </p:txBody>
      </p:sp>
      <p:sp>
        <p:nvSpPr>
          <p:cNvPr id="5" name="Footer Placeholder 4">
            <a:extLst>
              <a:ext uri="{FF2B5EF4-FFF2-40B4-BE49-F238E27FC236}">
                <a16:creationId xmlns:a16="http://schemas.microsoft.com/office/drawing/2014/main" id="{329F1754-5B8F-A9FA-E8B1-06E04CE283D5}"/>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5F01E6A8-5139-ECD4-CC0C-32FFC6741000}"/>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6429912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5858A62-FE72-978B-BE71-05908D82E1A4}"/>
              </a:ext>
            </a:extLst>
          </p:cNvPr>
          <p:cNvSpPr/>
          <p:nvPr/>
        </p:nvSpPr>
        <p:spPr>
          <a:xfrm>
            <a:off x="0" y="0"/>
            <a:ext cx="12192000" cy="6860161"/>
          </a:xfrm>
          <a:prstGeom prst="rect">
            <a:avLst/>
          </a:prstGeom>
          <a:solidFill>
            <a:schemeClr val="bg2">
              <a:lumMod val="75000"/>
              <a:alpha val="15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sp>
      <p:sp>
        <p:nvSpPr>
          <p:cNvPr id="2" name="Title Placeholder 1">
            <a:extLst>
              <a:ext uri="{FF2B5EF4-FFF2-40B4-BE49-F238E27FC236}">
                <a16:creationId xmlns:a16="http://schemas.microsoft.com/office/drawing/2014/main" id="{5BFA14B7-4740-5D9F-6489-BAD00C3E0D68}"/>
              </a:ext>
            </a:extLst>
          </p:cNvPr>
          <p:cNvSpPr>
            <a:spLocks noGrp="1"/>
          </p:cNvSpPr>
          <p:nvPr>
            <p:ph type="title"/>
          </p:nvPr>
        </p:nvSpPr>
        <p:spPr>
          <a:xfrm>
            <a:off x="871108" y="588245"/>
            <a:ext cx="10449784" cy="1265928"/>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7790487F-803F-C5AF-BD93-39C0FC738963}"/>
              </a:ext>
            </a:extLst>
          </p:cNvPr>
          <p:cNvSpPr>
            <a:spLocks noGrp="1"/>
          </p:cNvSpPr>
          <p:nvPr>
            <p:ph type="body" idx="1"/>
          </p:nvPr>
        </p:nvSpPr>
        <p:spPr>
          <a:xfrm>
            <a:off x="877824" y="2157984"/>
            <a:ext cx="10442448" cy="390381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86FCEF-4EDF-C2EF-7D81-FEFF7042F350}"/>
              </a:ext>
            </a:extLst>
          </p:cNvPr>
          <p:cNvSpPr>
            <a:spLocks noGrp="1"/>
          </p:cNvSpPr>
          <p:nvPr>
            <p:ph type="dt" sz="half" idx="2"/>
          </p:nvPr>
        </p:nvSpPr>
        <p:spPr>
          <a:xfrm>
            <a:off x="877824" y="6356350"/>
            <a:ext cx="2743200" cy="365125"/>
          </a:xfrm>
          <a:prstGeom prst="rect">
            <a:avLst/>
          </a:prstGeom>
        </p:spPr>
        <p:txBody>
          <a:bodyPr vert="horz" lIns="91440" tIns="45720" rIns="91440" bIns="45720" rtlCol="0" anchor="ctr"/>
          <a:lstStyle>
            <a:lvl1pPr algn="l">
              <a:defRPr sz="800" cap="all" spc="300" baseline="0">
                <a:solidFill>
                  <a:schemeClr val="tx2"/>
                </a:solidFill>
              </a:defRPr>
            </a:lvl1pPr>
          </a:lstStyle>
          <a:p>
            <a:fld id="{F9B0CB28-85DB-480B-8C99-FD493ACC7120}" type="datetimeFigureOut">
              <a:rPr lang="en-US" dirty="0"/>
              <a:t>6/22/2026</a:t>
            </a:fld>
            <a:endParaRPr lang="en-US"/>
          </a:p>
        </p:txBody>
      </p:sp>
      <p:sp>
        <p:nvSpPr>
          <p:cNvPr id="5" name="Footer Placeholder 4">
            <a:extLst>
              <a:ext uri="{FF2B5EF4-FFF2-40B4-BE49-F238E27FC236}">
                <a16:creationId xmlns:a16="http://schemas.microsoft.com/office/drawing/2014/main" id="{9A4663BC-4D46-C74D-DDF2-9D25B4D96F9B}"/>
              </a:ext>
            </a:extLst>
          </p:cNvPr>
          <p:cNvSpPr>
            <a:spLocks noGrp="1"/>
          </p:cNvSpPr>
          <p:nvPr>
            <p:ph type="ftr" sz="quarter" idx="3"/>
          </p:nvPr>
        </p:nvSpPr>
        <p:spPr>
          <a:xfrm>
            <a:off x="7132320" y="6356350"/>
            <a:ext cx="4297680" cy="365125"/>
          </a:xfrm>
          <a:prstGeom prst="rect">
            <a:avLst/>
          </a:prstGeom>
        </p:spPr>
        <p:txBody>
          <a:bodyPr vert="horz" lIns="91440" tIns="45720" rIns="91440" bIns="45720" rtlCol="0" anchor="ctr"/>
          <a:lstStyle>
            <a:lvl1pPr algn="r">
              <a:defRPr sz="800" cap="all" spc="300" baseline="0">
                <a:solidFill>
                  <a:schemeClr val="tx2"/>
                </a:solidFill>
              </a:defRPr>
            </a:lvl1pPr>
          </a:lstStyle>
          <a:p>
            <a:r>
              <a:rPr lang="en-US"/>
              <a:t>
              </a:t>
            </a:r>
          </a:p>
        </p:txBody>
      </p:sp>
      <p:sp>
        <p:nvSpPr>
          <p:cNvPr id="6" name="Slide Number Placeholder 5">
            <a:extLst>
              <a:ext uri="{FF2B5EF4-FFF2-40B4-BE49-F238E27FC236}">
                <a16:creationId xmlns:a16="http://schemas.microsoft.com/office/drawing/2014/main" id="{B71B4EAE-CB5C-D14B-77EF-7B155FA68353}"/>
              </a:ext>
            </a:extLst>
          </p:cNvPr>
          <p:cNvSpPr>
            <a:spLocks noGrp="1"/>
          </p:cNvSpPr>
          <p:nvPr>
            <p:ph type="sldNum" sz="quarter" idx="4"/>
          </p:nvPr>
        </p:nvSpPr>
        <p:spPr>
          <a:xfrm>
            <a:off x="11429999" y="6356350"/>
            <a:ext cx="521207" cy="365125"/>
          </a:xfrm>
          <a:prstGeom prst="rect">
            <a:avLst/>
          </a:prstGeom>
        </p:spPr>
        <p:txBody>
          <a:bodyPr vert="horz" lIns="91440" tIns="45720" rIns="91440" bIns="45720" rtlCol="0" anchor="ctr"/>
          <a:lstStyle>
            <a:lvl1pPr algn="r">
              <a:defRPr sz="1400">
                <a:solidFill>
                  <a:schemeClr val="tx2"/>
                </a:solidFill>
                <a:latin typeface="+mj-lt"/>
              </a:defRPr>
            </a:lvl1pPr>
          </a:lstStyle>
          <a:p>
            <a:fld id="{5E4DE196-8A13-4FF7-A07E-102851959EAB}" type="slidenum">
              <a:rPr lang="en-US" dirty="0"/>
              <a:pPr/>
              <a:t>‹#›</a:t>
            </a:fld>
            <a:endParaRPr lang="en-US"/>
          </a:p>
        </p:txBody>
      </p:sp>
    </p:spTree>
    <p:extLst>
      <p:ext uri="{BB962C8B-B14F-4D97-AF65-F5344CB8AC3E}">
        <p14:creationId xmlns:p14="http://schemas.microsoft.com/office/powerpoint/2010/main" val="2651467391"/>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hf hdr="0"/>
  <p:txStyles>
    <p:titleStyle>
      <a:lvl1pPr algn="l" defTabSz="914400" rtl="0" eaLnBrk="1" latinLnBrk="0" hangingPunct="1">
        <a:lnSpc>
          <a:spcPct val="100000"/>
        </a:lnSpc>
        <a:spcBef>
          <a:spcPct val="0"/>
        </a:spcBef>
        <a:buNone/>
        <a:defRPr sz="3200" kern="120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600" kern="1200">
          <a:solidFill>
            <a:schemeClr val="tx2"/>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100" kern="1200">
          <a:solidFill>
            <a:schemeClr val="tx2"/>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1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p15:clr>
            <a:srgbClr val="F26B43"/>
          </p15:clr>
        </p15:guide>
        <p15:guide id="4" pos="3840">
          <p15:clr>
            <a:srgbClr val="F26B43"/>
          </p15:clr>
        </p15:guide>
        <p15:guide id="5" orient="horz" pos="3816">
          <p15:clr>
            <a:srgbClr val="F26B43"/>
          </p15:clr>
        </p15:guide>
        <p15:guide id="6" orient="horz" pos="117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github.com/jvondermarck/dinosaur-exploder"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295049"/>
            <a:ext cx="9144000" cy="2209393"/>
          </a:xfrm>
        </p:spPr>
        <p:txBody>
          <a:bodyPr>
            <a:normAutofit/>
          </a:bodyPr>
          <a:lstStyle/>
          <a:p>
            <a:r>
              <a:rPr lang="en-US" sz="6000"/>
              <a:t>2buggAI</a:t>
            </a:r>
          </a:p>
        </p:txBody>
      </p:sp>
      <p:sp>
        <p:nvSpPr>
          <p:cNvPr id="3" name="Subtitle 2"/>
          <p:cNvSpPr>
            <a:spLocks noGrp="1"/>
          </p:cNvSpPr>
          <p:nvPr>
            <p:ph type="subTitle" idx="1"/>
          </p:nvPr>
        </p:nvSpPr>
        <p:spPr>
          <a:xfrm>
            <a:off x="1524000" y="2989277"/>
            <a:ext cx="9528628" cy="2532832"/>
          </a:xfrm>
        </p:spPr>
        <p:txBody>
          <a:bodyPr vert="horz" lIns="91440" tIns="45720" rIns="91440" bIns="45720" rtlCol="0" anchor="t">
            <a:normAutofit/>
          </a:bodyPr>
          <a:lstStyle/>
          <a:p>
            <a:r>
              <a:rPr lang="en-US">
                <a:ea typeface="+mn-lt"/>
                <a:cs typeface="+mn-lt"/>
              </a:rPr>
              <a:t>Team 34</a:t>
            </a:r>
            <a:endParaRPr lang="en-US"/>
          </a:p>
          <a:p>
            <a:endParaRPr lang="en-US"/>
          </a:p>
          <a:p>
            <a:r>
              <a:rPr lang="en-US">
                <a:ea typeface="+mn-lt"/>
                <a:cs typeface="+mn-lt"/>
              </a:rPr>
              <a:t>Nikola Cvetkovic · Krystian Kedzior · Berceste Yagmur Aslan Özugur</a:t>
            </a:r>
          </a:p>
          <a:p>
            <a:endParaRPr lang="en-US"/>
          </a:p>
          <a:p>
            <a:r>
              <a:rPr lang="en-US">
                <a:ea typeface="+mn-lt"/>
                <a:cs typeface="+mn-lt"/>
              </a:rPr>
              <a:t>Innovation Lab 2 · Summer Term 2026</a:t>
            </a:r>
          </a:p>
          <a:p>
            <a:r>
              <a:rPr lang="en-US">
                <a:ea typeface="+mn-lt"/>
                <a:cs typeface="+mn-lt"/>
              </a:rPr>
              <a:t>FH </a:t>
            </a:r>
            <a:r>
              <a:rPr lang="en-US" err="1">
                <a:ea typeface="+mn-lt"/>
                <a:cs typeface="+mn-lt"/>
              </a:rPr>
              <a:t>Technikum</a:t>
            </a:r>
            <a:r>
              <a:rPr lang="en-US">
                <a:ea typeface="+mn-lt"/>
                <a:cs typeface="+mn-lt"/>
              </a:rPr>
              <a:t> Wien</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E76B1-454F-72CA-F173-0671124B2458}"/>
              </a:ext>
            </a:extLst>
          </p:cNvPr>
          <p:cNvSpPr>
            <a:spLocks noGrp="1"/>
          </p:cNvSpPr>
          <p:nvPr>
            <p:ph type="title"/>
          </p:nvPr>
        </p:nvSpPr>
        <p:spPr>
          <a:xfrm>
            <a:off x="468086" y="183696"/>
            <a:ext cx="10515600" cy="1325563"/>
          </a:xfrm>
        </p:spPr>
        <p:txBody>
          <a:bodyPr>
            <a:normAutofit/>
          </a:bodyPr>
          <a:lstStyle/>
          <a:p>
            <a:r>
              <a:rPr lang="en-US" sz="2900">
                <a:ea typeface="+mj-lt"/>
                <a:cs typeface="+mj-lt"/>
              </a:rPr>
              <a:t>Project Goals</a:t>
            </a:r>
            <a:endParaRPr lang="en-US" sz="2900"/>
          </a:p>
        </p:txBody>
      </p:sp>
      <p:sp>
        <p:nvSpPr>
          <p:cNvPr id="3" name="Content Placeholder 2">
            <a:extLst>
              <a:ext uri="{FF2B5EF4-FFF2-40B4-BE49-F238E27FC236}">
                <a16:creationId xmlns:a16="http://schemas.microsoft.com/office/drawing/2014/main" id="{A24308AE-B46C-33A8-74DC-20631E4275C3}"/>
              </a:ext>
            </a:extLst>
          </p:cNvPr>
          <p:cNvSpPr>
            <a:spLocks noGrp="1"/>
          </p:cNvSpPr>
          <p:nvPr>
            <p:ph idx="1"/>
          </p:nvPr>
        </p:nvSpPr>
        <p:spPr>
          <a:xfrm>
            <a:off x="257628" y="1658711"/>
            <a:ext cx="11132457" cy="5200423"/>
          </a:xfrm>
        </p:spPr>
        <p:txBody>
          <a:bodyPr vert="horz" lIns="91440" tIns="45720" rIns="91440" bIns="45720" rtlCol="0" anchor="t">
            <a:normAutofit/>
          </a:bodyPr>
          <a:lstStyle/>
          <a:p>
            <a:r>
              <a:rPr lang="en-US" sz="2000">
                <a:ea typeface="+mn-lt"/>
                <a:cs typeface="+mn-lt"/>
              </a:rPr>
              <a:t>A CLI tool that automatically debugs real-world GitHub repositories</a:t>
            </a:r>
            <a:endParaRPr lang="en-US">
              <a:ea typeface="+mn-lt"/>
              <a:cs typeface="+mn-lt"/>
            </a:endParaRPr>
          </a:p>
          <a:p>
            <a:r>
              <a:rPr lang="en-US" sz="2000">
                <a:ea typeface="+mn-lt"/>
                <a:cs typeface="+mn-lt"/>
              </a:rPr>
              <a:t>Supports C, C++, Java, and Python multi-file projects, automatic dependency detection and its installation</a:t>
            </a:r>
            <a:endParaRPr lang="en-US">
              <a:ea typeface="+mn-lt"/>
              <a:cs typeface="+mn-lt"/>
            </a:endParaRPr>
          </a:p>
          <a:p>
            <a:r>
              <a:rPr lang="en-US" sz="2000">
                <a:ea typeface="+mn-lt"/>
                <a:cs typeface="+mn-lt"/>
              </a:rPr>
              <a:t>Compiles the project, runs the right debugger, collects full debug output</a:t>
            </a:r>
            <a:endParaRPr lang="en-US">
              <a:ea typeface="+mn-lt"/>
              <a:cs typeface="+mn-lt"/>
            </a:endParaRPr>
          </a:p>
          <a:p>
            <a:r>
              <a:rPr lang="en-US" sz="2000">
                <a:ea typeface="+mn-lt"/>
                <a:cs typeface="+mn-lt"/>
              </a:rPr>
              <a:t>Sends source code  and compile errors, runtime errors, debugger output to OpenAI API to AI explain the bug and apply the fixed code directly into the source code</a:t>
            </a:r>
            <a:endParaRPr lang="en-US">
              <a:ea typeface="+mn-lt"/>
              <a:cs typeface="+mn-lt"/>
            </a:endParaRPr>
          </a:p>
        </p:txBody>
      </p:sp>
    </p:spTree>
    <p:extLst>
      <p:ext uri="{BB962C8B-B14F-4D97-AF65-F5344CB8AC3E}">
        <p14:creationId xmlns:p14="http://schemas.microsoft.com/office/powerpoint/2010/main" val="9587163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EE772-D153-7673-8A18-9CF6B9CAA8FB}"/>
              </a:ext>
            </a:extLst>
          </p:cNvPr>
          <p:cNvSpPr>
            <a:spLocks noGrp="1"/>
          </p:cNvSpPr>
          <p:nvPr>
            <p:ph type="title"/>
          </p:nvPr>
        </p:nvSpPr>
        <p:spPr>
          <a:xfrm>
            <a:off x="609851" y="225388"/>
            <a:ext cx="10449784" cy="1265928"/>
          </a:xfrm>
        </p:spPr>
        <p:txBody>
          <a:bodyPr>
            <a:normAutofit/>
          </a:bodyPr>
          <a:lstStyle/>
          <a:p>
            <a:r>
              <a:rPr lang="en-US" sz="2900">
                <a:ea typeface="+mj-lt"/>
                <a:cs typeface="+mj-lt"/>
              </a:rPr>
              <a:t>Implementations</a:t>
            </a:r>
            <a:endParaRPr lang="en-US" sz="2900"/>
          </a:p>
        </p:txBody>
      </p:sp>
      <p:sp>
        <p:nvSpPr>
          <p:cNvPr id="3" name="Content Placeholder 2">
            <a:extLst>
              <a:ext uri="{FF2B5EF4-FFF2-40B4-BE49-F238E27FC236}">
                <a16:creationId xmlns:a16="http://schemas.microsoft.com/office/drawing/2014/main" id="{36C207B9-D76C-CA02-3610-3B6F2400DCA4}"/>
              </a:ext>
            </a:extLst>
          </p:cNvPr>
          <p:cNvSpPr>
            <a:spLocks noGrp="1"/>
          </p:cNvSpPr>
          <p:nvPr>
            <p:ph idx="1"/>
          </p:nvPr>
        </p:nvSpPr>
        <p:spPr>
          <a:xfrm>
            <a:off x="417286" y="1694997"/>
            <a:ext cx="11350171" cy="4481966"/>
          </a:xfrm>
        </p:spPr>
        <p:txBody>
          <a:bodyPr vert="horz" lIns="91440" tIns="45720" rIns="91440" bIns="45720" rtlCol="0" anchor="t">
            <a:normAutofit/>
          </a:bodyPr>
          <a:lstStyle/>
          <a:p>
            <a:r>
              <a:rPr lang="en-US" sz="1800">
                <a:ea typeface="+mn-lt"/>
                <a:cs typeface="+mn-lt"/>
              </a:rPr>
              <a:t>Multi-language support: C, C++, Java, and Python</a:t>
            </a:r>
          </a:p>
          <a:p>
            <a:r>
              <a:rPr lang="en-US" sz="1800">
                <a:ea typeface="+mn-lt"/>
                <a:cs typeface="+mn-lt"/>
              </a:rPr>
              <a:t>Build system support: </a:t>
            </a:r>
            <a:r>
              <a:rPr lang="en-US" sz="1800" err="1">
                <a:ea typeface="+mn-lt"/>
                <a:cs typeface="+mn-lt"/>
              </a:rPr>
              <a:t>gcc</a:t>
            </a:r>
            <a:r>
              <a:rPr lang="en-US" sz="1800">
                <a:ea typeface="+mn-lt"/>
                <a:cs typeface="+mn-lt"/>
              </a:rPr>
              <a:t>/g++ for C and C++, Maven and Gradle for Java, pip with virtual environments for Python</a:t>
            </a:r>
            <a:endParaRPr lang="en-US" sz="1800"/>
          </a:p>
          <a:p>
            <a:r>
              <a:rPr lang="en-US" sz="1800">
                <a:ea typeface="+mn-lt"/>
                <a:cs typeface="+mn-lt"/>
              </a:rPr>
              <a:t>Debugger integration: GDB and </a:t>
            </a:r>
            <a:r>
              <a:rPr lang="en-US" sz="1800" err="1">
                <a:ea typeface="+mn-lt"/>
                <a:cs typeface="+mn-lt"/>
              </a:rPr>
              <a:t>Valgrind</a:t>
            </a:r>
            <a:r>
              <a:rPr lang="en-US" sz="1800">
                <a:ea typeface="+mn-lt"/>
                <a:cs typeface="+mn-lt"/>
              </a:rPr>
              <a:t> for C/C++, JDB for Java, PDB for Python</a:t>
            </a:r>
          </a:p>
          <a:p>
            <a:r>
              <a:rPr lang="en-US" sz="1800">
                <a:ea typeface="+mn-lt"/>
                <a:cs typeface="+mn-lt"/>
              </a:rPr>
              <a:t>Automatic dependency installation (Python): Virtual environment per project, requirements.txt parsing, import scanning, package name mapping via pip</a:t>
            </a:r>
          </a:p>
          <a:p>
            <a:r>
              <a:rPr lang="en-US" sz="1800">
                <a:ea typeface="+mn-lt"/>
                <a:cs typeface="+mn-lt"/>
              </a:rPr>
              <a:t>Automatic dependency installation (Java): Correct JDK version detection and installation via </a:t>
            </a:r>
            <a:r>
              <a:rPr lang="en-US" sz="1800" err="1">
                <a:ea typeface="+mn-lt"/>
                <a:cs typeface="+mn-lt"/>
              </a:rPr>
              <a:t>sudo</a:t>
            </a:r>
            <a:r>
              <a:rPr lang="en-US" sz="1800">
                <a:ea typeface="+mn-lt"/>
                <a:cs typeface="+mn-lt"/>
              </a:rPr>
              <a:t> apt, automatic Gradle version download via </a:t>
            </a:r>
            <a:r>
              <a:rPr lang="en-US" sz="1800" err="1">
                <a:ea typeface="+mn-lt"/>
                <a:cs typeface="+mn-lt"/>
              </a:rPr>
              <a:t>wget</a:t>
            </a:r>
            <a:endParaRPr lang="en-US" sz="1800"/>
          </a:p>
        </p:txBody>
      </p:sp>
    </p:spTree>
    <p:extLst>
      <p:ext uri="{BB962C8B-B14F-4D97-AF65-F5344CB8AC3E}">
        <p14:creationId xmlns:p14="http://schemas.microsoft.com/office/powerpoint/2010/main" val="40650750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FCB76-E883-02A9-6B00-F19B3462FC09}"/>
              </a:ext>
            </a:extLst>
          </p:cNvPr>
          <p:cNvSpPr>
            <a:spLocks noGrp="1"/>
          </p:cNvSpPr>
          <p:nvPr>
            <p:ph type="title"/>
          </p:nvPr>
        </p:nvSpPr>
        <p:spPr>
          <a:xfrm>
            <a:off x="609851" y="319730"/>
            <a:ext cx="10449784" cy="1265928"/>
          </a:xfrm>
        </p:spPr>
        <p:txBody>
          <a:bodyPr>
            <a:normAutofit/>
          </a:bodyPr>
          <a:lstStyle/>
          <a:p>
            <a:r>
              <a:rPr lang="en-US" sz="2900"/>
              <a:t>Implementations</a:t>
            </a:r>
          </a:p>
        </p:txBody>
      </p:sp>
      <p:sp>
        <p:nvSpPr>
          <p:cNvPr id="3" name="Content Placeholder 2">
            <a:extLst>
              <a:ext uri="{FF2B5EF4-FFF2-40B4-BE49-F238E27FC236}">
                <a16:creationId xmlns:a16="http://schemas.microsoft.com/office/drawing/2014/main" id="{3B7FB040-7D42-FC23-A269-4183C22513AD}"/>
              </a:ext>
            </a:extLst>
          </p:cNvPr>
          <p:cNvSpPr>
            <a:spLocks noGrp="1"/>
          </p:cNvSpPr>
          <p:nvPr>
            <p:ph idx="1"/>
          </p:nvPr>
        </p:nvSpPr>
        <p:spPr>
          <a:xfrm>
            <a:off x="322943" y="1825625"/>
            <a:ext cx="11030857" cy="4706938"/>
          </a:xfrm>
        </p:spPr>
        <p:txBody>
          <a:bodyPr vert="horz" lIns="91440" tIns="45720" rIns="91440" bIns="45720" rtlCol="0" anchor="t">
            <a:normAutofit/>
          </a:bodyPr>
          <a:lstStyle/>
          <a:p>
            <a:r>
              <a:rPr lang="en-US" sz="1800">
                <a:ea typeface="+mn-lt"/>
                <a:cs typeface="+mn-lt"/>
              </a:rPr>
              <a:t> Error classification: Errors matched against a known checklist, sorted by type and difficulty (easy → medium → hard)</a:t>
            </a:r>
            <a:endParaRPr lang="en-US" sz="1800"/>
          </a:p>
          <a:p>
            <a:r>
              <a:rPr lang="en-US" sz="1800">
                <a:ea typeface="+mn-lt"/>
                <a:cs typeface="+mn-lt"/>
              </a:rPr>
              <a:t>AI fix loop: Detected error + source code sent to OpenAI API, fix applied directly into the source file with automatic .</a:t>
            </a:r>
            <a:r>
              <a:rPr lang="en-US" sz="1800" err="1">
                <a:ea typeface="+mn-lt"/>
                <a:cs typeface="+mn-lt"/>
              </a:rPr>
              <a:t>bak</a:t>
            </a:r>
            <a:r>
              <a:rPr lang="en-US" sz="1800">
                <a:ea typeface="+mn-lt"/>
                <a:cs typeface="+mn-lt"/>
              </a:rPr>
              <a:t> backup, retries up to 5 times per error to handle cases where the first fix introduces new issues</a:t>
            </a:r>
            <a:endParaRPr lang="en-US" sz="1800"/>
          </a:p>
          <a:p>
            <a:r>
              <a:rPr lang="en-US" sz="1800">
                <a:ea typeface="+mn-lt"/>
                <a:cs typeface="+mn-lt"/>
              </a:rPr>
              <a:t>Partial analysis fallback: If compilation fails, the tool continues with static AI analysis instead of stopping completely</a:t>
            </a:r>
            <a:endParaRPr lang="en-US" sz="1800"/>
          </a:p>
          <a:p>
            <a:r>
              <a:rPr lang="en-US" sz="1800">
                <a:ea typeface="+mn-lt"/>
                <a:cs typeface="+mn-lt"/>
              </a:rPr>
              <a:t>Automatic checklist expansion: New error categories discovered by the AI are added directly into the checklist file, so the tool learns from each run</a:t>
            </a:r>
            <a:endParaRPr lang="en-US" sz="1800"/>
          </a:p>
          <a:p>
            <a:r>
              <a:rPr lang="en-US" sz="1800">
                <a:ea typeface="+mn-lt"/>
                <a:cs typeface="+mn-lt"/>
              </a:rPr>
              <a:t>Interactive program detection: Programs requiring user input are automatically detected and skipped for execution, falling back to AI-based static analysis</a:t>
            </a:r>
            <a:endParaRPr lang="en-US" sz="1800"/>
          </a:p>
        </p:txBody>
      </p:sp>
    </p:spTree>
    <p:extLst>
      <p:ext uri="{BB962C8B-B14F-4D97-AF65-F5344CB8AC3E}">
        <p14:creationId xmlns:p14="http://schemas.microsoft.com/office/powerpoint/2010/main" val="23456708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92A7C-DC2A-D276-772F-3D1DEEDFDB62}"/>
              </a:ext>
            </a:extLst>
          </p:cNvPr>
          <p:cNvSpPr>
            <a:spLocks noGrp="1"/>
          </p:cNvSpPr>
          <p:nvPr>
            <p:ph type="title"/>
          </p:nvPr>
        </p:nvSpPr>
        <p:spPr>
          <a:xfrm>
            <a:off x="725965" y="196359"/>
            <a:ext cx="10449784" cy="1265928"/>
          </a:xfrm>
        </p:spPr>
        <p:txBody>
          <a:bodyPr anchor="b">
            <a:normAutofit/>
          </a:bodyPr>
          <a:lstStyle/>
          <a:p>
            <a:r>
              <a:rPr lang="en-US" sz="2900"/>
              <a:t>Architecture</a:t>
            </a:r>
          </a:p>
        </p:txBody>
      </p:sp>
      <p:sp>
        <p:nvSpPr>
          <p:cNvPr id="12" name="Date Placeholder 3">
            <a:extLst>
              <a:ext uri="{FF2B5EF4-FFF2-40B4-BE49-F238E27FC236}">
                <a16:creationId xmlns:a16="http://schemas.microsoft.com/office/drawing/2014/main" id="{55DA0FBE-2542-BE69-9D52-7F80639B503C}"/>
              </a:ext>
            </a:extLst>
          </p:cNvPr>
          <p:cNvSpPr>
            <a:spLocks noGrp="1"/>
          </p:cNvSpPr>
          <p:nvPr>
            <p:ph type="dt" sz="half" idx="10"/>
          </p:nvPr>
        </p:nvSpPr>
        <p:spPr>
          <a:xfrm>
            <a:off x="877824" y="6356350"/>
            <a:ext cx="2743200" cy="365125"/>
          </a:xfrm>
        </p:spPr>
        <p:txBody>
          <a:bodyPr anchor="ctr">
            <a:normAutofit/>
          </a:bodyPr>
          <a:lstStyle/>
          <a:p>
            <a:pPr>
              <a:spcAft>
                <a:spcPts val="600"/>
              </a:spcAft>
            </a:pPr>
            <a:fld id="{621A6F7F-A0C2-4F73-BC23-4DD78B007244}" type="datetime1">
              <a:rPr lang="en-US" smtClean="0"/>
              <a:pPr>
                <a:spcAft>
                  <a:spcPts val="600"/>
                </a:spcAft>
              </a:pPr>
              <a:t>6/22/2026</a:t>
            </a:fld>
            <a:endParaRPr lang="en-US"/>
          </a:p>
        </p:txBody>
      </p:sp>
      <p:sp>
        <p:nvSpPr>
          <p:cNvPr id="14" name="Footer Placeholder 4">
            <a:extLst>
              <a:ext uri="{FF2B5EF4-FFF2-40B4-BE49-F238E27FC236}">
                <a16:creationId xmlns:a16="http://schemas.microsoft.com/office/drawing/2014/main" id="{2E79F4F4-2038-0E30-A902-F32BAAF7957A}"/>
              </a:ext>
            </a:extLst>
          </p:cNvPr>
          <p:cNvSpPr>
            <a:spLocks noGrp="1"/>
          </p:cNvSpPr>
          <p:nvPr>
            <p:ph type="ftr" sz="quarter" idx="11"/>
          </p:nvPr>
        </p:nvSpPr>
        <p:spPr>
          <a:xfrm>
            <a:off x="7132320" y="6356350"/>
            <a:ext cx="4297680" cy="365125"/>
          </a:xfrm>
        </p:spPr>
        <p:txBody>
          <a:bodyPr anchor="ctr">
            <a:normAutofit/>
          </a:bodyPr>
          <a:lstStyle/>
          <a:p>
            <a:pPr>
              <a:lnSpc>
                <a:spcPct val="90000"/>
              </a:lnSpc>
              <a:spcAft>
                <a:spcPts val="600"/>
              </a:spcAft>
            </a:pPr>
            <a:r>
              <a:rPr lang="en-US" sz="700"/>
              <a:t>
              </a:t>
            </a:r>
          </a:p>
        </p:txBody>
      </p:sp>
      <p:sp>
        <p:nvSpPr>
          <p:cNvPr id="16" name="Slide Number Placeholder 5">
            <a:extLst>
              <a:ext uri="{FF2B5EF4-FFF2-40B4-BE49-F238E27FC236}">
                <a16:creationId xmlns:a16="http://schemas.microsoft.com/office/drawing/2014/main" id="{A186A9D7-4FA3-DE79-BCC3-5085C5E207FD}"/>
              </a:ext>
            </a:extLst>
          </p:cNvPr>
          <p:cNvSpPr>
            <a:spLocks noGrp="1"/>
          </p:cNvSpPr>
          <p:nvPr>
            <p:ph type="sldNum" sz="quarter" idx="12"/>
          </p:nvPr>
        </p:nvSpPr>
        <p:spPr>
          <a:xfrm>
            <a:off x="11429999" y="6356350"/>
            <a:ext cx="521207" cy="365125"/>
          </a:xfrm>
        </p:spPr>
        <p:txBody>
          <a:bodyPr anchor="ctr">
            <a:normAutofit/>
          </a:bodyPr>
          <a:lstStyle/>
          <a:p>
            <a:pPr>
              <a:spcAft>
                <a:spcPts val="600"/>
              </a:spcAft>
            </a:pPr>
            <a:fld id="{5E4DE196-8A13-4FF7-A07E-102851959EAB}" type="slidenum">
              <a:rPr lang="en-US" smtClean="0"/>
              <a:pPr>
                <a:spcAft>
                  <a:spcPts val="600"/>
                </a:spcAft>
              </a:pPr>
              <a:t>5</a:t>
            </a:fld>
            <a:endParaRPr lang="en-US"/>
          </a:p>
        </p:txBody>
      </p:sp>
      <p:graphicFrame>
        <p:nvGraphicFramePr>
          <p:cNvPr id="21" name="Content Placeholder 2">
            <a:extLst>
              <a:ext uri="{FF2B5EF4-FFF2-40B4-BE49-F238E27FC236}">
                <a16:creationId xmlns:a16="http://schemas.microsoft.com/office/drawing/2014/main" id="{205C59A2-6A8D-216C-069F-CBFB20617EF3}"/>
              </a:ext>
            </a:extLst>
          </p:cNvPr>
          <p:cNvGraphicFramePr>
            <a:graphicFrameLocks noGrp="1"/>
          </p:cNvGraphicFramePr>
          <p:nvPr>
            <p:ph idx="1"/>
            <p:extLst>
              <p:ext uri="{D42A27DB-BD31-4B8C-83A1-F6EECF244321}">
                <p14:modId xmlns:p14="http://schemas.microsoft.com/office/powerpoint/2010/main" val="4218703134"/>
              </p:ext>
            </p:extLst>
          </p:nvPr>
        </p:nvGraphicFramePr>
        <p:xfrm>
          <a:off x="877824" y="1751584"/>
          <a:ext cx="10602105" cy="43102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487811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E43FD-2019-AB98-1491-BC006D429CB5}"/>
              </a:ext>
            </a:extLst>
          </p:cNvPr>
          <p:cNvSpPr>
            <a:spLocks noGrp="1"/>
          </p:cNvSpPr>
          <p:nvPr>
            <p:ph type="title"/>
          </p:nvPr>
        </p:nvSpPr>
        <p:spPr>
          <a:xfrm>
            <a:off x="871108" y="2634"/>
            <a:ext cx="10449784" cy="1265928"/>
          </a:xfrm>
        </p:spPr>
        <p:txBody>
          <a:bodyPr>
            <a:normAutofit/>
          </a:bodyPr>
          <a:lstStyle/>
          <a:p>
            <a:r>
              <a:rPr lang="en-US" sz="2900">
                <a:ea typeface="+mj-lt"/>
                <a:cs typeface="+mj-lt"/>
              </a:rPr>
              <a:t>Testing Overview &amp; What Worked</a:t>
            </a:r>
            <a:endParaRPr lang="en-US" sz="2900"/>
          </a:p>
        </p:txBody>
      </p:sp>
      <p:sp>
        <p:nvSpPr>
          <p:cNvPr id="3" name="Content Placeholder 2">
            <a:extLst>
              <a:ext uri="{FF2B5EF4-FFF2-40B4-BE49-F238E27FC236}">
                <a16:creationId xmlns:a16="http://schemas.microsoft.com/office/drawing/2014/main" id="{2A059636-3E29-DD9B-D657-C07E6430DEAE}"/>
              </a:ext>
            </a:extLst>
          </p:cNvPr>
          <p:cNvSpPr>
            <a:spLocks noGrp="1"/>
          </p:cNvSpPr>
          <p:nvPr>
            <p:ph idx="1"/>
          </p:nvPr>
        </p:nvSpPr>
        <p:spPr>
          <a:xfrm>
            <a:off x="768967" y="1362923"/>
            <a:ext cx="10442448" cy="3903819"/>
          </a:xfrm>
        </p:spPr>
        <p:txBody>
          <a:bodyPr vert="horz" lIns="91440" tIns="45720" rIns="91440" bIns="45720" rtlCol="0" anchor="t">
            <a:normAutofit/>
          </a:bodyPr>
          <a:lstStyle/>
          <a:p>
            <a:r>
              <a:rPr lang="en-US">
                <a:ea typeface="+mn-lt"/>
                <a:cs typeface="+mn-lt"/>
              </a:rPr>
              <a:t>~60 open-source GitHub repositories tested: C, C++, Java, and Python (https://github.com/bercesteyagmur/2buggAI/blob/main/Documentations/2buggAI_Test_Results_Analysis.pdf)</a:t>
            </a:r>
          </a:p>
          <a:p>
            <a:endParaRPr lang="en-US" sz="1400"/>
          </a:p>
          <a:p>
            <a:pPr>
              <a:buNone/>
            </a:pPr>
            <a:endParaRPr lang="en-US" sz="1400"/>
          </a:p>
        </p:txBody>
      </p:sp>
      <p:sp>
        <p:nvSpPr>
          <p:cNvPr id="4" name="Date Placeholder 3">
            <a:extLst>
              <a:ext uri="{FF2B5EF4-FFF2-40B4-BE49-F238E27FC236}">
                <a16:creationId xmlns:a16="http://schemas.microsoft.com/office/drawing/2014/main" id="{9F979298-37B5-9A5E-C5FC-F2383BDCBFB9}"/>
              </a:ext>
            </a:extLst>
          </p:cNvPr>
          <p:cNvSpPr>
            <a:spLocks noGrp="1"/>
          </p:cNvSpPr>
          <p:nvPr>
            <p:ph type="dt" sz="half" idx="10"/>
          </p:nvPr>
        </p:nvSpPr>
        <p:spPr/>
        <p:txBody>
          <a:bodyPr/>
          <a:lstStyle/>
          <a:p>
            <a:fld id="{D9258179-91A3-4794-ACE9-730730B44E01}" type="datetime1">
              <a:t>6/22/2026</a:t>
            </a:fld>
            <a:endParaRPr lang="en-US"/>
          </a:p>
        </p:txBody>
      </p:sp>
      <p:sp>
        <p:nvSpPr>
          <p:cNvPr id="5" name="Footer Placeholder 4">
            <a:extLst>
              <a:ext uri="{FF2B5EF4-FFF2-40B4-BE49-F238E27FC236}">
                <a16:creationId xmlns:a16="http://schemas.microsoft.com/office/drawing/2014/main" id="{2A68C2A8-D94C-D648-E325-0407284E7C97}"/>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7C237322-D6F5-2E83-7432-A924A7CC6384}"/>
              </a:ext>
            </a:extLst>
          </p:cNvPr>
          <p:cNvSpPr>
            <a:spLocks noGrp="1"/>
          </p:cNvSpPr>
          <p:nvPr>
            <p:ph type="sldNum" sz="quarter" idx="12"/>
          </p:nvPr>
        </p:nvSpPr>
        <p:spPr/>
        <p:txBody>
          <a:bodyPr/>
          <a:lstStyle/>
          <a:p>
            <a:fld id="{5E4DE196-8A13-4FF7-A07E-102851959EAB}" type="slidenum">
              <a:rPr lang="en-US" dirty="0"/>
              <a:t>6</a:t>
            </a:fld>
            <a:endParaRPr lang="en-US"/>
          </a:p>
        </p:txBody>
      </p:sp>
      <p:graphicFrame>
        <p:nvGraphicFramePr>
          <p:cNvPr id="7" name="Table 6">
            <a:extLst>
              <a:ext uri="{FF2B5EF4-FFF2-40B4-BE49-F238E27FC236}">
                <a16:creationId xmlns:a16="http://schemas.microsoft.com/office/drawing/2014/main" id="{F7A8CE9E-48FC-0855-E17A-2F2D91F21CCB}"/>
              </a:ext>
            </a:extLst>
          </p:cNvPr>
          <p:cNvGraphicFramePr>
            <a:graphicFrameLocks noGrp="1"/>
          </p:cNvGraphicFramePr>
          <p:nvPr>
            <p:extLst>
              <p:ext uri="{D42A27DB-BD31-4B8C-83A1-F6EECF244321}">
                <p14:modId xmlns:p14="http://schemas.microsoft.com/office/powerpoint/2010/main" val="554602937"/>
              </p:ext>
            </p:extLst>
          </p:nvPr>
        </p:nvGraphicFramePr>
        <p:xfrm>
          <a:off x="1542990" y="2130262"/>
          <a:ext cx="8168640" cy="4221480"/>
        </p:xfrm>
        <a:graphic>
          <a:graphicData uri="http://schemas.openxmlformats.org/drawingml/2006/table">
            <a:tbl>
              <a:tblPr firstRow="1" bandRow="1">
                <a:tableStyleId>{5C22544A-7EE6-4342-B048-85BDC9FD1C3A}</a:tableStyleId>
              </a:tblPr>
              <a:tblGrid>
                <a:gridCol w="4084320">
                  <a:extLst>
                    <a:ext uri="{9D8B030D-6E8A-4147-A177-3AD203B41FA5}">
                      <a16:colId xmlns:a16="http://schemas.microsoft.com/office/drawing/2014/main" val="248457830"/>
                    </a:ext>
                  </a:extLst>
                </a:gridCol>
                <a:gridCol w="4084320">
                  <a:extLst>
                    <a:ext uri="{9D8B030D-6E8A-4147-A177-3AD203B41FA5}">
                      <a16:colId xmlns:a16="http://schemas.microsoft.com/office/drawing/2014/main" val="1489692841"/>
                    </a:ext>
                  </a:extLst>
                </a:gridCol>
              </a:tblGrid>
              <a:tr h="370840">
                <a:tc>
                  <a:txBody>
                    <a:bodyPr/>
                    <a:lstStyle/>
                    <a:p>
                      <a:pPr lvl="0">
                        <a:buNone/>
                      </a:pPr>
                      <a:r>
                        <a:rPr lang="en-US" sz="1800" b="0" i="0" u="none" strike="noStrike" noProof="0">
                          <a:latin typeface="Aptos Light"/>
                        </a:rPr>
                        <a:t>  What Worked</a:t>
                      </a:r>
                      <a:endParaRPr lang="en-US"/>
                    </a:p>
                  </a:txBody>
                  <a:tcPr/>
                </a:tc>
                <a:tc>
                  <a:txBody>
                    <a:bodyPr/>
                    <a:lstStyle/>
                    <a:p>
                      <a:endParaRPr lang="en-US"/>
                    </a:p>
                  </a:txBody>
                  <a:tcPr/>
                </a:tc>
                <a:extLst>
                  <a:ext uri="{0D108BD9-81ED-4DB2-BD59-A6C34878D82A}">
                    <a16:rowId xmlns:a16="http://schemas.microsoft.com/office/drawing/2014/main" val="3416447863"/>
                  </a:ext>
                </a:extLst>
              </a:tr>
              <a:tr h="370840">
                <a:tc>
                  <a:txBody>
                    <a:bodyPr/>
                    <a:lstStyle/>
                    <a:p>
                      <a:pPr lvl="0">
                        <a:buNone/>
                      </a:pPr>
                      <a:r>
                        <a:rPr lang="en-US" sz="1800" b="0" i="0" u="none" strike="noStrike" noProof="0">
                          <a:latin typeface="Aptos Light"/>
                        </a:rPr>
                        <a:t>Language &amp; build system detection</a:t>
                      </a:r>
                      <a:endParaRPr lang="en-US"/>
                    </a:p>
                  </a:txBody>
                  <a:tcPr/>
                </a:tc>
                <a:tc>
                  <a:txBody>
                    <a:bodyPr/>
                    <a:lstStyle/>
                    <a:p>
                      <a:pPr lvl="0">
                        <a:buNone/>
                      </a:pPr>
                      <a:r>
                        <a:rPr lang="en-US" sz="1800" b="0" i="0" u="none" strike="noStrike" noProof="0">
                          <a:latin typeface="Aptos Light"/>
                        </a:rPr>
                        <a:t>reliable across all 4 languages</a:t>
                      </a:r>
                      <a:endParaRPr lang="en-US"/>
                    </a:p>
                  </a:txBody>
                  <a:tcPr/>
                </a:tc>
                <a:extLst>
                  <a:ext uri="{0D108BD9-81ED-4DB2-BD59-A6C34878D82A}">
                    <a16:rowId xmlns:a16="http://schemas.microsoft.com/office/drawing/2014/main" val="109131679"/>
                  </a:ext>
                </a:extLst>
              </a:tr>
              <a:tr h="370840">
                <a:tc>
                  <a:txBody>
                    <a:bodyPr/>
                    <a:lstStyle/>
                    <a:p>
                      <a:pPr lvl="0" algn="l">
                        <a:lnSpc>
                          <a:spcPct val="100000"/>
                        </a:lnSpc>
                        <a:spcBef>
                          <a:spcPts val="0"/>
                        </a:spcBef>
                        <a:spcAft>
                          <a:spcPts val="0"/>
                        </a:spcAft>
                        <a:buNone/>
                      </a:pPr>
                      <a:r>
                        <a:rPr lang="en-US" sz="1800" b="0" i="0" u="none" strike="noStrike" noProof="0"/>
                        <a:t>Java version &amp; Gradle compatibility   detection</a:t>
                      </a:r>
                      <a:endParaRPr lang="en-US"/>
                    </a:p>
                  </a:txBody>
                  <a:tcPr/>
                </a:tc>
                <a:tc>
                  <a:txBody>
                    <a:bodyPr/>
                    <a:lstStyle/>
                    <a:p>
                      <a:pPr lvl="0" algn="l">
                        <a:lnSpc>
                          <a:spcPct val="100000"/>
                        </a:lnSpc>
                        <a:spcBef>
                          <a:spcPts val="0"/>
                        </a:spcBef>
                        <a:spcAft>
                          <a:spcPts val="0"/>
                        </a:spcAft>
                        <a:buNone/>
                      </a:pPr>
                      <a:r>
                        <a:rPr lang="en-US" sz="1800" b="0" i="0" u="none" strike="noStrike" noProof="0">
                          <a:latin typeface="Aptos Light"/>
                        </a:rPr>
                        <a:t>Correct JDK installed automatically per    detection   </a:t>
                      </a:r>
                      <a:endParaRPr lang="en-US"/>
                    </a:p>
                  </a:txBody>
                  <a:tcPr/>
                </a:tc>
                <a:extLst>
                  <a:ext uri="{0D108BD9-81ED-4DB2-BD59-A6C34878D82A}">
                    <a16:rowId xmlns:a16="http://schemas.microsoft.com/office/drawing/2014/main" val="340646782"/>
                  </a:ext>
                </a:extLst>
              </a:tr>
              <a:tr h="370840">
                <a:tc>
                  <a:txBody>
                    <a:bodyPr/>
                    <a:lstStyle/>
                    <a:p>
                      <a:pPr lvl="0">
                        <a:buNone/>
                      </a:pPr>
                      <a:r>
                        <a:rPr lang="en-US" sz="1800" b="0" i="0" u="none" strike="noStrike" noProof="0">
                          <a:latin typeface="Aptos Light"/>
                        </a:rPr>
                        <a:t>Python import-based detection</a:t>
                      </a:r>
                      <a:endParaRPr lang="en-US"/>
                    </a:p>
                  </a:txBody>
                  <a:tcPr/>
                </a:tc>
                <a:tc>
                  <a:txBody>
                    <a:bodyPr/>
                    <a:lstStyle/>
                    <a:p>
                      <a:pPr lvl="0">
                        <a:buNone/>
                      </a:pPr>
                      <a:r>
                        <a:rPr lang="en-US" sz="1800" b="0" i="0" u="none" strike="noStrike" noProof="0">
                          <a:latin typeface="Aptos Light"/>
                        </a:rPr>
                        <a:t>worked even without requirements.txt</a:t>
                      </a:r>
                      <a:endParaRPr lang="en-US"/>
                    </a:p>
                  </a:txBody>
                  <a:tcPr/>
                </a:tc>
                <a:extLst>
                  <a:ext uri="{0D108BD9-81ED-4DB2-BD59-A6C34878D82A}">
                    <a16:rowId xmlns:a16="http://schemas.microsoft.com/office/drawing/2014/main" val="2946379247"/>
                  </a:ext>
                </a:extLst>
              </a:tr>
              <a:tr h="370838">
                <a:tc>
                  <a:txBody>
                    <a:bodyPr/>
                    <a:lstStyle/>
                    <a:p>
                      <a:pPr lvl="0" algn="l">
                        <a:lnSpc>
                          <a:spcPct val="100000"/>
                        </a:lnSpc>
                        <a:spcBef>
                          <a:spcPts val="0"/>
                        </a:spcBef>
                        <a:spcAft>
                          <a:spcPts val="0"/>
                        </a:spcAft>
                        <a:buNone/>
                      </a:pPr>
                      <a:r>
                        <a:rPr lang="en-US" sz="1800" b="0" i="0" u="none" strike="noStrike" noProof="0">
                          <a:latin typeface="Aptos Light"/>
                        </a:rPr>
                        <a:t>Error classification &amp; checklist  expansion</a:t>
                      </a:r>
                      <a:endParaRPr lang="en-US"/>
                    </a:p>
                  </a:txBody>
                  <a:tcPr/>
                </a:tc>
                <a:tc>
                  <a:txBody>
                    <a:bodyPr/>
                    <a:lstStyle/>
                    <a:p>
                      <a:pPr lvl="0">
                        <a:buNone/>
                      </a:pPr>
                      <a:r>
                        <a:rPr lang="en-US" sz="1800" b="0" i="0" u="none" strike="noStrike" noProof="0">
                          <a:latin typeface="Aptos Light"/>
                        </a:rPr>
                        <a:t>improved with every run</a:t>
                      </a:r>
                      <a:endParaRPr lang="en-US"/>
                    </a:p>
                  </a:txBody>
                  <a:tcPr/>
                </a:tc>
                <a:extLst>
                  <a:ext uri="{0D108BD9-81ED-4DB2-BD59-A6C34878D82A}">
                    <a16:rowId xmlns:a16="http://schemas.microsoft.com/office/drawing/2014/main" val="3273216304"/>
                  </a:ext>
                </a:extLst>
              </a:tr>
              <a:tr h="370839">
                <a:tc>
                  <a:txBody>
                    <a:bodyPr/>
                    <a:lstStyle/>
                    <a:p>
                      <a:pPr lvl="0">
                        <a:buNone/>
                      </a:pPr>
                      <a:r>
                        <a:rPr lang="en-US" sz="1800" b="0" i="0" u="none" strike="noStrike" noProof="0"/>
                        <a:t>AI static analysis fallback</a:t>
                      </a:r>
                      <a:endParaRPr lang="en-US"/>
                    </a:p>
                  </a:txBody>
                  <a:tcPr/>
                </a:tc>
                <a:tc>
                  <a:txBody>
                    <a:bodyPr/>
                    <a:lstStyle/>
                    <a:p>
                      <a:pPr lvl="0">
                        <a:buNone/>
                      </a:pPr>
                      <a:r>
                        <a:rPr lang="en-US" sz="1800" b="0" i="0" u="none" strike="noStrike" noProof="0">
                          <a:latin typeface="Aptos Light"/>
                        </a:rPr>
                        <a:t>AI static analysis continued even when compilation failed because of build system errors or missing dependencies</a:t>
                      </a:r>
                      <a:endParaRPr lang="en-US"/>
                    </a:p>
                  </a:txBody>
                  <a:tcPr/>
                </a:tc>
                <a:extLst>
                  <a:ext uri="{0D108BD9-81ED-4DB2-BD59-A6C34878D82A}">
                    <a16:rowId xmlns:a16="http://schemas.microsoft.com/office/drawing/2014/main" val="1254904299"/>
                  </a:ext>
                </a:extLst>
              </a:tr>
              <a:tr h="370838">
                <a:tc>
                  <a:txBody>
                    <a:bodyPr/>
                    <a:lstStyle/>
                    <a:p>
                      <a:pPr lvl="0">
                        <a:buNone/>
                      </a:pPr>
                      <a:r>
                        <a:rPr lang="en-US" sz="1800" b="0" i="0" u="none" strike="noStrike" noProof="0">
                          <a:latin typeface="Aptos Light"/>
                        </a:rPr>
                        <a:t>AI fix loop</a:t>
                      </a:r>
                      <a:endParaRPr lang="en-US"/>
                    </a:p>
                  </a:txBody>
                  <a:tcPr/>
                </a:tc>
                <a:tc>
                  <a:txBody>
                    <a:bodyPr/>
                    <a:lstStyle/>
                    <a:p>
                      <a:pPr lvl="0">
                        <a:buNone/>
                      </a:pPr>
                      <a:r>
                        <a:rPr lang="en-US" sz="1800" b="0" i="0" u="none" strike="noStrike" noProof="0"/>
                        <a:t>AI fix loop detected errors, generated fixes, and applied them directly into the source code </a:t>
                      </a:r>
                      <a:endParaRPr lang="en-US"/>
                    </a:p>
                  </a:txBody>
                  <a:tcPr/>
                </a:tc>
                <a:extLst>
                  <a:ext uri="{0D108BD9-81ED-4DB2-BD59-A6C34878D82A}">
                    <a16:rowId xmlns:a16="http://schemas.microsoft.com/office/drawing/2014/main" val="3446505876"/>
                  </a:ext>
                </a:extLst>
              </a:tr>
            </a:tbl>
          </a:graphicData>
        </a:graphic>
      </p:graphicFrame>
    </p:spTree>
    <p:extLst>
      <p:ext uri="{BB962C8B-B14F-4D97-AF65-F5344CB8AC3E}">
        <p14:creationId xmlns:p14="http://schemas.microsoft.com/office/powerpoint/2010/main" val="28825705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510CE-0DED-E3D2-8C60-3A835B6E5E44}"/>
              </a:ext>
            </a:extLst>
          </p:cNvPr>
          <p:cNvSpPr>
            <a:spLocks noGrp="1"/>
          </p:cNvSpPr>
          <p:nvPr>
            <p:ph type="title"/>
          </p:nvPr>
        </p:nvSpPr>
        <p:spPr>
          <a:xfrm>
            <a:off x="718708" y="377788"/>
            <a:ext cx="10449784" cy="1265928"/>
          </a:xfrm>
        </p:spPr>
        <p:txBody>
          <a:bodyPr>
            <a:normAutofit/>
          </a:bodyPr>
          <a:lstStyle/>
          <a:p>
            <a:r>
              <a:rPr lang="en-US" sz="2900">
                <a:ea typeface="+mj-lt"/>
                <a:cs typeface="+mj-lt"/>
              </a:rPr>
              <a:t>Continuous Development &amp; Limitations </a:t>
            </a:r>
            <a:endParaRPr lang="en-US" sz="2900"/>
          </a:p>
        </p:txBody>
      </p:sp>
      <p:sp>
        <p:nvSpPr>
          <p:cNvPr id="3" name="Content Placeholder 2">
            <a:extLst>
              <a:ext uri="{FF2B5EF4-FFF2-40B4-BE49-F238E27FC236}">
                <a16:creationId xmlns:a16="http://schemas.microsoft.com/office/drawing/2014/main" id="{0DA8E2D3-7E14-30C5-3B1D-CA8067EB498E}"/>
              </a:ext>
            </a:extLst>
          </p:cNvPr>
          <p:cNvSpPr>
            <a:spLocks noGrp="1"/>
          </p:cNvSpPr>
          <p:nvPr>
            <p:ph idx="1"/>
          </p:nvPr>
        </p:nvSpPr>
        <p:spPr>
          <a:xfrm>
            <a:off x="631081" y="1816898"/>
            <a:ext cx="10442448" cy="3903819"/>
          </a:xfrm>
        </p:spPr>
        <p:txBody>
          <a:bodyPr vert="horz" lIns="91440" tIns="45720" rIns="91440" bIns="45720" rtlCol="0" anchor="t">
            <a:normAutofit/>
          </a:bodyPr>
          <a:lstStyle/>
          <a:p>
            <a:r>
              <a:rPr lang="en-US" sz="1800">
                <a:ea typeface="+mn-lt"/>
                <a:cs typeface="+mn-lt"/>
              </a:rPr>
              <a:t>Every test run revealed new edge cases and the tool was continuously improved sprint by sprint</a:t>
            </a:r>
          </a:p>
          <a:p>
            <a:pPr marL="0" indent="0">
              <a:buNone/>
            </a:pPr>
            <a:r>
              <a:rPr lang="en-US" b="1">
                <a:ea typeface="+mn-lt"/>
                <a:cs typeface="+mn-lt"/>
              </a:rPr>
              <a:t>Example Limitations:</a:t>
            </a:r>
          </a:p>
          <a:p>
            <a:pPr marL="0" indent="0">
              <a:buNone/>
            </a:pPr>
            <a:r>
              <a:rPr lang="en-US">
                <a:ea typeface="+mn-lt"/>
                <a:cs typeface="+mn-lt"/>
              </a:rPr>
              <a:t>1. Maven version conflicts: Build failures caused by incompatible maven-compiler-plugin versions could not be resolved automatically</a:t>
            </a:r>
            <a:endParaRPr lang="en-US"/>
          </a:p>
          <a:p>
            <a:pPr marL="0" indent="0">
              <a:buNone/>
            </a:pPr>
            <a:r>
              <a:rPr lang="en-US">
                <a:ea typeface="+mn-lt"/>
                <a:cs typeface="+mn-lt"/>
              </a:rPr>
              <a:t>2. Python dependency conflicts: When packages in requirements.txt are mutually incompatible (e.g. Django 3.1.13 requires </a:t>
            </a:r>
            <a:r>
              <a:rPr lang="en-US" err="1">
                <a:ea typeface="+mn-lt"/>
                <a:cs typeface="+mn-lt"/>
              </a:rPr>
              <a:t>asgiref</a:t>
            </a:r>
            <a:r>
              <a:rPr lang="en-US">
                <a:ea typeface="+mn-lt"/>
                <a:cs typeface="+mn-lt"/>
              </a:rPr>
              <a:t> ≥ 3.4, but </a:t>
            </a:r>
            <a:r>
              <a:rPr lang="en-US" err="1">
                <a:ea typeface="+mn-lt"/>
                <a:cs typeface="+mn-lt"/>
              </a:rPr>
              <a:t>asgiref</a:t>
            </a:r>
            <a:r>
              <a:rPr lang="en-US">
                <a:ea typeface="+mn-lt"/>
                <a:cs typeface="+mn-lt"/>
              </a:rPr>
              <a:t> 3.2.3 was pinned), pip cannot resolve them and the project cannot run</a:t>
            </a:r>
            <a:endParaRPr lang="en-US"/>
          </a:p>
          <a:p>
            <a:pPr>
              <a:buNone/>
            </a:pPr>
            <a:r>
              <a:rPr lang="en-US">
                <a:ea typeface="+mn-lt"/>
                <a:cs typeface="+mn-lt"/>
              </a:rPr>
              <a:t>3. Platform-specific code: Projects using </a:t>
            </a:r>
            <a:r>
              <a:rPr lang="en-US" err="1">
                <a:ea typeface="+mn-lt"/>
                <a:cs typeface="+mn-lt"/>
              </a:rPr>
              <a:t>windows.h</a:t>
            </a:r>
            <a:r>
              <a:rPr lang="en-US">
                <a:ea typeface="+mn-lt"/>
                <a:cs typeface="+mn-lt"/>
              </a:rPr>
              <a:t> or </a:t>
            </a:r>
            <a:r>
              <a:rPr lang="en-US" err="1">
                <a:ea typeface="+mn-lt"/>
                <a:cs typeface="+mn-lt"/>
              </a:rPr>
              <a:t>conio.h</a:t>
            </a:r>
            <a:r>
              <a:rPr lang="en-US">
                <a:ea typeface="+mn-lt"/>
                <a:cs typeface="+mn-lt"/>
              </a:rPr>
              <a:t> fail on Linux; this is an environment issue, not a code bug, so the tool skips fix attempts</a:t>
            </a:r>
            <a:endParaRPr lang="en-US"/>
          </a:p>
          <a:p>
            <a:pPr>
              <a:buNone/>
            </a:pPr>
            <a:r>
              <a:rPr lang="en-US">
                <a:ea typeface="+mn-lt"/>
                <a:cs typeface="+mn-lt"/>
              </a:rPr>
              <a:t>4. External services: Repositories requiring hardware, APIs, or databases not available in the test environment could not be executed or debugged</a:t>
            </a:r>
            <a:endParaRPr lang="en-US"/>
          </a:p>
          <a:p>
            <a:pPr marL="0" indent="0">
              <a:buNone/>
            </a:pPr>
            <a:endParaRPr lang="en-US"/>
          </a:p>
        </p:txBody>
      </p:sp>
      <p:sp>
        <p:nvSpPr>
          <p:cNvPr id="4" name="Date Placeholder 3">
            <a:extLst>
              <a:ext uri="{FF2B5EF4-FFF2-40B4-BE49-F238E27FC236}">
                <a16:creationId xmlns:a16="http://schemas.microsoft.com/office/drawing/2014/main" id="{95D7CDCA-4911-41CC-824C-3DE97E1F4894}"/>
              </a:ext>
            </a:extLst>
          </p:cNvPr>
          <p:cNvSpPr>
            <a:spLocks noGrp="1"/>
          </p:cNvSpPr>
          <p:nvPr>
            <p:ph type="dt" sz="half" idx="10"/>
          </p:nvPr>
        </p:nvSpPr>
        <p:spPr/>
        <p:txBody>
          <a:bodyPr/>
          <a:lstStyle/>
          <a:p>
            <a:fld id="{6E10EA10-9CF4-4AF8-995A-F48AB393209C}" type="datetime1">
              <a:t>6/22/2026</a:t>
            </a:fld>
            <a:endParaRPr lang="en-US"/>
          </a:p>
        </p:txBody>
      </p:sp>
      <p:sp>
        <p:nvSpPr>
          <p:cNvPr id="5" name="Footer Placeholder 4">
            <a:extLst>
              <a:ext uri="{FF2B5EF4-FFF2-40B4-BE49-F238E27FC236}">
                <a16:creationId xmlns:a16="http://schemas.microsoft.com/office/drawing/2014/main" id="{2BD69FD9-862C-F22E-A503-BA58BD4984BD}"/>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A03DC241-9D4C-E8CB-9625-A4EF8BA761AD}"/>
              </a:ext>
            </a:extLst>
          </p:cNvPr>
          <p:cNvSpPr>
            <a:spLocks noGrp="1"/>
          </p:cNvSpPr>
          <p:nvPr>
            <p:ph type="sldNum" sz="quarter" idx="12"/>
          </p:nvPr>
        </p:nvSpPr>
        <p:spPr/>
        <p:txBody>
          <a:bodyPr/>
          <a:lstStyle/>
          <a:p>
            <a:fld id="{5E4DE196-8A13-4FF7-A07E-102851959EAB}" type="slidenum">
              <a:rPr lang="en-US" dirty="0"/>
              <a:t>7</a:t>
            </a:fld>
            <a:endParaRPr lang="en-US"/>
          </a:p>
        </p:txBody>
      </p:sp>
    </p:spTree>
    <p:extLst>
      <p:ext uri="{BB962C8B-B14F-4D97-AF65-F5344CB8AC3E}">
        <p14:creationId xmlns:p14="http://schemas.microsoft.com/office/powerpoint/2010/main" val="25105828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BF718A-95D4-5ECB-70A7-FB3587B3C3C0}"/>
              </a:ext>
            </a:extLst>
          </p:cNvPr>
          <p:cNvSpPr>
            <a:spLocks noGrp="1"/>
          </p:cNvSpPr>
          <p:nvPr>
            <p:ph type="title"/>
          </p:nvPr>
        </p:nvSpPr>
        <p:spPr>
          <a:xfrm>
            <a:off x="188937" y="-217297"/>
            <a:ext cx="10449784" cy="1265928"/>
          </a:xfrm>
        </p:spPr>
        <p:txBody>
          <a:bodyPr>
            <a:normAutofit/>
          </a:bodyPr>
          <a:lstStyle/>
          <a:p>
            <a:r>
              <a:rPr lang="en-US" sz="2900">
                <a:ea typeface="+mj-lt"/>
                <a:cs typeface="+mj-lt"/>
              </a:rPr>
              <a:t>Example Run of 2buggAI</a:t>
            </a:r>
          </a:p>
        </p:txBody>
      </p:sp>
      <p:pic>
        <p:nvPicPr>
          <p:cNvPr id="7" name="Content Placeholder 6">
            <a:extLst>
              <a:ext uri="{FF2B5EF4-FFF2-40B4-BE49-F238E27FC236}">
                <a16:creationId xmlns:a16="http://schemas.microsoft.com/office/drawing/2014/main" id="{530F3DA5-0415-BC97-1843-B385F2818E3D}"/>
              </a:ext>
            </a:extLst>
          </p:cNvPr>
          <p:cNvPicPr>
            <a:picLocks noGrp="1" noChangeAspect="1"/>
          </p:cNvPicPr>
          <p:nvPr>
            <p:ph idx="1"/>
          </p:nvPr>
        </p:nvPicPr>
        <p:blipFill>
          <a:blip r:embed="rId2"/>
          <a:stretch>
            <a:fillRect/>
          </a:stretch>
        </p:blipFill>
        <p:spPr>
          <a:xfrm>
            <a:off x="398108" y="1559688"/>
            <a:ext cx="7149193" cy="2763611"/>
          </a:xfrm>
          <a:prstGeom prst="rect">
            <a:avLst/>
          </a:prstGeom>
        </p:spPr>
      </p:pic>
      <p:sp>
        <p:nvSpPr>
          <p:cNvPr id="4" name="Date Placeholder 3">
            <a:extLst>
              <a:ext uri="{FF2B5EF4-FFF2-40B4-BE49-F238E27FC236}">
                <a16:creationId xmlns:a16="http://schemas.microsoft.com/office/drawing/2014/main" id="{805065C8-81D3-C4FB-61A7-7AAD1AF2A371}"/>
              </a:ext>
            </a:extLst>
          </p:cNvPr>
          <p:cNvSpPr>
            <a:spLocks noGrp="1"/>
          </p:cNvSpPr>
          <p:nvPr>
            <p:ph type="dt" sz="half" idx="10"/>
          </p:nvPr>
        </p:nvSpPr>
        <p:spPr/>
        <p:txBody>
          <a:bodyPr/>
          <a:lstStyle/>
          <a:p>
            <a:fld id="{14B431CE-7514-4FBA-8449-A1AF3DB75431}" type="datetime1">
              <a:t>6/22/2026</a:t>
            </a:fld>
            <a:endParaRPr lang="en-US"/>
          </a:p>
        </p:txBody>
      </p:sp>
      <p:sp>
        <p:nvSpPr>
          <p:cNvPr id="5" name="Footer Placeholder 4">
            <a:extLst>
              <a:ext uri="{FF2B5EF4-FFF2-40B4-BE49-F238E27FC236}">
                <a16:creationId xmlns:a16="http://schemas.microsoft.com/office/drawing/2014/main" id="{D4945440-F695-B353-733B-170B051F4D5F}"/>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468B912A-96C5-292A-31AD-8EAEEA8818B0}"/>
              </a:ext>
            </a:extLst>
          </p:cNvPr>
          <p:cNvSpPr>
            <a:spLocks noGrp="1"/>
          </p:cNvSpPr>
          <p:nvPr>
            <p:ph type="sldNum" sz="quarter" idx="12"/>
          </p:nvPr>
        </p:nvSpPr>
        <p:spPr/>
        <p:txBody>
          <a:bodyPr/>
          <a:lstStyle/>
          <a:p>
            <a:fld id="{5E4DE196-8A13-4FF7-A07E-102851959EAB}" type="slidenum">
              <a:rPr lang="en-US" dirty="0"/>
              <a:t>8</a:t>
            </a:fld>
            <a:endParaRPr lang="en-US"/>
          </a:p>
        </p:txBody>
      </p:sp>
      <p:pic>
        <p:nvPicPr>
          <p:cNvPr id="8" name="Picture 7">
            <a:extLst>
              <a:ext uri="{FF2B5EF4-FFF2-40B4-BE49-F238E27FC236}">
                <a16:creationId xmlns:a16="http://schemas.microsoft.com/office/drawing/2014/main" id="{F98D33D4-A7CE-CFE9-DCD2-BAD370E11483}"/>
              </a:ext>
            </a:extLst>
          </p:cNvPr>
          <p:cNvPicPr>
            <a:picLocks noChangeAspect="1"/>
          </p:cNvPicPr>
          <p:nvPr/>
        </p:nvPicPr>
        <p:blipFill>
          <a:blip r:embed="rId3"/>
          <a:stretch>
            <a:fillRect/>
          </a:stretch>
        </p:blipFill>
        <p:spPr>
          <a:xfrm>
            <a:off x="4347255" y="4468132"/>
            <a:ext cx="7343775" cy="2000250"/>
          </a:xfrm>
          <a:prstGeom prst="rect">
            <a:avLst/>
          </a:prstGeom>
        </p:spPr>
      </p:pic>
      <p:sp>
        <p:nvSpPr>
          <p:cNvPr id="9" name="TextBox 8">
            <a:extLst>
              <a:ext uri="{FF2B5EF4-FFF2-40B4-BE49-F238E27FC236}">
                <a16:creationId xmlns:a16="http://schemas.microsoft.com/office/drawing/2014/main" id="{3CD6051C-C7C6-71BA-CDF3-C4B6788D949B}"/>
              </a:ext>
            </a:extLst>
          </p:cNvPr>
          <p:cNvSpPr txBox="1"/>
          <p:nvPr/>
        </p:nvSpPr>
        <p:spPr>
          <a:xfrm>
            <a:off x="188772" y="1189398"/>
            <a:ext cx="1156062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AutoNum type="arabicPeriod"/>
            </a:pPr>
            <a:r>
              <a:rPr lang="en-US">
                <a:ea typeface="+mn-lt"/>
                <a:cs typeface="+mn-lt"/>
              </a:rPr>
              <a:t>The tool scans the project folder and collects all 7 files for testing, including pom.xml and the Java source files.</a:t>
            </a:r>
            <a:endParaRPr lang="en-US"/>
          </a:p>
        </p:txBody>
      </p:sp>
      <p:sp>
        <p:nvSpPr>
          <p:cNvPr id="10" name="TextBox 9">
            <a:extLst>
              <a:ext uri="{FF2B5EF4-FFF2-40B4-BE49-F238E27FC236}">
                <a16:creationId xmlns:a16="http://schemas.microsoft.com/office/drawing/2014/main" id="{C3F71D4E-E2E6-6A8B-E8D3-C46B731DEAFB}"/>
              </a:ext>
            </a:extLst>
          </p:cNvPr>
          <p:cNvSpPr txBox="1"/>
          <p:nvPr/>
        </p:nvSpPr>
        <p:spPr>
          <a:xfrm>
            <a:off x="395930" y="4540715"/>
            <a:ext cx="3583734"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2.</a:t>
            </a:r>
            <a:r>
              <a:rPr lang="en-US">
                <a:ea typeface="+mn-lt"/>
                <a:cs typeface="+mn-lt"/>
              </a:rPr>
              <a:t> The tool detects a Maven project and runs </a:t>
            </a:r>
            <a:r>
              <a:rPr lang="en-US" err="1">
                <a:latin typeface="Consolas"/>
              </a:rPr>
              <a:t>mvn</a:t>
            </a:r>
            <a:r>
              <a:rPr lang="en-US">
                <a:latin typeface="Consolas"/>
              </a:rPr>
              <a:t> clean install</a:t>
            </a:r>
            <a:r>
              <a:rPr lang="en-US">
                <a:ea typeface="+mn-lt"/>
                <a:cs typeface="+mn-lt"/>
              </a:rPr>
              <a:t> to build it automatically.</a:t>
            </a:r>
          </a:p>
        </p:txBody>
      </p:sp>
    </p:spTree>
    <p:extLst>
      <p:ext uri="{BB962C8B-B14F-4D97-AF65-F5344CB8AC3E}">
        <p14:creationId xmlns:p14="http://schemas.microsoft.com/office/powerpoint/2010/main" val="14645353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197AF-1099-EA73-59FB-619A4E606F1F}"/>
              </a:ext>
            </a:extLst>
          </p:cNvPr>
          <p:cNvSpPr>
            <a:spLocks noGrp="1"/>
          </p:cNvSpPr>
          <p:nvPr>
            <p:ph type="title"/>
          </p:nvPr>
        </p:nvSpPr>
        <p:spPr>
          <a:xfrm>
            <a:off x="116366" y="290703"/>
            <a:ext cx="10449784" cy="1265928"/>
          </a:xfrm>
        </p:spPr>
        <p:txBody>
          <a:bodyPr/>
          <a:lstStyle/>
          <a:p>
            <a:r>
              <a:rPr lang="en-US" sz="2900"/>
              <a:t>Example Run of 2buggAI</a:t>
            </a:r>
          </a:p>
          <a:p>
            <a:endParaRPr lang="en-US" sz="2900"/>
          </a:p>
        </p:txBody>
      </p:sp>
      <p:pic>
        <p:nvPicPr>
          <p:cNvPr id="7" name="Content Placeholder 6">
            <a:extLst>
              <a:ext uri="{FF2B5EF4-FFF2-40B4-BE49-F238E27FC236}">
                <a16:creationId xmlns:a16="http://schemas.microsoft.com/office/drawing/2014/main" id="{08DA838C-C3A5-EAA7-B216-0DEC93B7D6DC}"/>
              </a:ext>
            </a:extLst>
          </p:cNvPr>
          <p:cNvPicPr>
            <a:picLocks noGrp="1" noChangeAspect="1"/>
          </p:cNvPicPr>
          <p:nvPr>
            <p:ph idx="1"/>
          </p:nvPr>
        </p:nvPicPr>
        <p:blipFill>
          <a:blip r:embed="rId2"/>
          <a:stretch>
            <a:fillRect/>
          </a:stretch>
        </p:blipFill>
        <p:spPr>
          <a:xfrm>
            <a:off x="237318" y="2328266"/>
            <a:ext cx="12260489" cy="3490685"/>
          </a:xfrm>
          <a:prstGeom prst="rect">
            <a:avLst/>
          </a:prstGeom>
        </p:spPr>
      </p:pic>
      <p:sp>
        <p:nvSpPr>
          <p:cNvPr id="4" name="Date Placeholder 3">
            <a:extLst>
              <a:ext uri="{FF2B5EF4-FFF2-40B4-BE49-F238E27FC236}">
                <a16:creationId xmlns:a16="http://schemas.microsoft.com/office/drawing/2014/main" id="{594B8191-D752-A94A-6AE7-D37AC87EBDE2}"/>
              </a:ext>
            </a:extLst>
          </p:cNvPr>
          <p:cNvSpPr>
            <a:spLocks noGrp="1"/>
          </p:cNvSpPr>
          <p:nvPr>
            <p:ph type="dt" sz="half" idx="10"/>
          </p:nvPr>
        </p:nvSpPr>
        <p:spPr/>
        <p:txBody>
          <a:bodyPr/>
          <a:lstStyle/>
          <a:p>
            <a:fld id="{089AABD3-C3FC-4D48-A59C-1EF64F50FF2F}" type="datetime1">
              <a:t>6/22/2026</a:t>
            </a:fld>
            <a:endParaRPr lang="en-US"/>
          </a:p>
        </p:txBody>
      </p:sp>
      <p:sp>
        <p:nvSpPr>
          <p:cNvPr id="5" name="Footer Placeholder 4">
            <a:extLst>
              <a:ext uri="{FF2B5EF4-FFF2-40B4-BE49-F238E27FC236}">
                <a16:creationId xmlns:a16="http://schemas.microsoft.com/office/drawing/2014/main" id="{1B2CFED3-DBB2-2036-3028-B9B732623AAE}"/>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CAF21499-9890-0CCB-43DF-AFB98CFBC2DE}"/>
              </a:ext>
            </a:extLst>
          </p:cNvPr>
          <p:cNvSpPr>
            <a:spLocks noGrp="1"/>
          </p:cNvSpPr>
          <p:nvPr>
            <p:ph type="sldNum" sz="quarter" idx="12"/>
          </p:nvPr>
        </p:nvSpPr>
        <p:spPr/>
        <p:txBody>
          <a:bodyPr/>
          <a:lstStyle/>
          <a:p>
            <a:fld id="{5E4DE196-8A13-4FF7-A07E-102851959EAB}" type="slidenum">
              <a:rPr lang="en-US" dirty="0"/>
              <a:t>9</a:t>
            </a:fld>
            <a:endParaRPr lang="en-US"/>
          </a:p>
        </p:txBody>
      </p:sp>
      <p:sp>
        <p:nvSpPr>
          <p:cNvPr id="9" name="TextBox 8">
            <a:extLst>
              <a:ext uri="{FF2B5EF4-FFF2-40B4-BE49-F238E27FC236}">
                <a16:creationId xmlns:a16="http://schemas.microsoft.com/office/drawing/2014/main" id="{5B1E9976-93B7-D399-A684-8D57ADCEDEF1}"/>
              </a:ext>
            </a:extLst>
          </p:cNvPr>
          <p:cNvSpPr txBox="1"/>
          <p:nvPr/>
        </p:nvSpPr>
        <p:spPr>
          <a:xfrm>
            <a:off x="114820" y="1252575"/>
            <a:ext cx="10421257"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3. </a:t>
            </a:r>
            <a:r>
              <a:rPr lang="en-US">
                <a:ea typeface="+mn-lt"/>
                <a:cs typeface="+mn-lt"/>
              </a:rPr>
              <a:t>The Maven build finishes with BUILD SUCCESS, and the JAR file is created. But when the tool tries to run the program, it fails with "no main manifest attribute" and Exit-Code: 1 because the pom.xml is missing the main class configuration.</a:t>
            </a:r>
            <a:endParaRPr lang="en-US"/>
          </a:p>
        </p:txBody>
      </p:sp>
    </p:spTree>
    <p:extLst>
      <p:ext uri="{BB962C8B-B14F-4D97-AF65-F5344CB8AC3E}">
        <p14:creationId xmlns:p14="http://schemas.microsoft.com/office/powerpoint/2010/main" val="14191108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9B6C7-C049-F2E1-D53B-819D697B661B}"/>
              </a:ext>
            </a:extLst>
          </p:cNvPr>
          <p:cNvSpPr>
            <a:spLocks noGrp="1"/>
          </p:cNvSpPr>
          <p:nvPr>
            <p:ph type="title"/>
          </p:nvPr>
        </p:nvSpPr>
        <p:spPr>
          <a:xfrm>
            <a:off x="251" y="-188270"/>
            <a:ext cx="10449784" cy="1265928"/>
          </a:xfrm>
        </p:spPr>
        <p:txBody>
          <a:bodyPr>
            <a:normAutofit/>
          </a:bodyPr>
          <a:lstStyle/>
          <a:p>
            <a:r>
              <a:rPr lang="en-US" sz="2900"/>
              <a:t>Example Run of 2buggAI</a:t>
            </a:r>
          </a:p>
        </p:txBody>
      </p:sp>
      <p:sp>
        <p:nvSpPr>
          <p:cNvPr id="4" name="Date Placeholder 3">
            <a:extLst>
              <a:ext uri="{FF2B5EF4-FFF2-40B4-BE49-F238E27FC236}">
                <a16:creationId xmlns:a16="http://schemas.microsoft.com/office/drawing/2014/main" id="{095EC578-B340-50D4-62EC-885F0F2C9004}"/>
              </a:ext>
            </a:extLst>
          </p:cNvPr>
          <p:cNvSpPr>
            <a:spLocks noGrp="1"/>
          </p:cNvSpPr>
          <p:nvPr>
            <p:ph type="dt" sz="half" idx="10"/>
          </p:nvPr>
        </p:nvSpPr>
        <p:spPr/>
        <p:txBody>
          <a:bodyPr/>
          <a:lstStyle/>
          <a:p>
            <a:fld id="{4AB64866-74F7-4D44-AF8D-333569BDAD37}" type="datetime1">
              <a:t>6/22/2026</a:t>
            </a:fld>
            <a:endParaRPr lang="en-US"/>
          </a:p>
        </p:txBody>
      </p:sp>
      <p:sp>
        <p:nvSpPr>
          <p:cNvPr id="5" name="Footer Placeholder 4">
            <a:extLst>
              <a:ext uri="{FF2B5EF4-FFF2-40B4-BE49-F238E27FC236}">
                <a16:creationId xmlns:a16="http://schemas.microsoft.com/office/drawing/2014/main" id="{23AF48CE-CF7D-B091-2598-F2460733B2A2}"/>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CAB0FAA0-5DF6-375B-B441-C8BC3BCD2ECA}"/>
              </a:ext>
            </a:extLst>
          </p:cNvPr>
          <p:cNvSpPr>
            <a:spLocks noGrp="1"/>
          </p:cNvSpPr>
          <p:nvPr>
            <p:ph type="sldNum" sz="quarter" idx="12"/>
          </p:nvPr>
        </p:nvSpPr>
        <p:spPr/>
        <p:txBody>
          <a:bodyPr/>
          <a:lstStyle/>
          <a:p>
            <a:fld id="{5E4DE196-8A13-4FF7-A07E-102851959EAB}" type="slidenum">
              <a:rPr lang="en-US" dirty="0"/>
              <a:t>10</a:t>
            </a:fld>
            <a:endParaRPr lang="en-US"/>
          </a:p>
        </p:txBody>
      </p:sp>
      <p:pic>
        <p:nvPicPr>
          <p:cNvPr id="8" name="Picture 7">
            <a:extLst>
              <a:ext uri="{FF2B5EF4-FFF2-40B4-BE49-F238E27FC236}">
                <a16:creationId xmlns:a16="http://schemas.microsoft.com/office/drawing/2014/main" id="{3F37234C-0EE5-BE4A-33D6-28D7A7A0DFAE}"/>
              </a:ext>
            </a:extLst>
          </p:cNvPr>
          <p:cNvPicPr>
            <a:picLocks noChangeAspect="1"/>
          </p:cNvPicPr>
          <p:nvPr/>
        </p:nvPicPr>
        <p:blipFill>
          <a:blip r:embed="rId2"/>
          <a:stretch>
            <a:fillRect/>
          </a:stretch>
        </p:blipFill>
        <p:spPr>
          <a:xfrm>
            <a:off x="137886" y="2211944"/>
            <a:ext cx="11408229" cy="4328225"/>
          </a:xfrm>
          <a:prstGeom prst="rect">
            <a:avLst/>
          </a:prstGeom>
        </p:spPr>
      </p:pic>
      <p:sp>
        <p:nvSpPr>
          <p:cNvPr id="9" name="TextBox 8">
            <a:extLst>
              <a:ext uri="{FF2B5EF4-FFF2-40B4-BE49-F238E27FC236}">
                <a16:creationId xmlns:a16="http://schemas.microsoft.com/office/drawing/2014/main" id="{31853775-6C86-3FFE-112A-2043A6A40C33}"/>
              </a:ext>
            </a:extLst>
          </p:cNvPr>
          <p:cNvSpPr txBox="1"/>
          <p:nvPr/>
        </p:nvSpPr>
        <p:spPr>
          <a:xfrm>
            <a:off x="778" y="1266441"/>
            <a:ext cx="12028265"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4.</a:t>
            </a:r>
            <a:r>
              <a:rPr lang="en-US">
                <a:ea typeface="+mn-lt"/>
                <a:cs typeface="+mn-lt"/>
              </a:rPr>
              <a:t> Even though the program could not run, OpenAI analysis still starts and generates a debug report. It explains that the JAR fails to run because the manifest is missing a "Main-Class" entry, so Java doesn't know which class to start and then AI provides the buggy code and the fixed code, and also adds the fix directly into the project (you can see this in the next slides).</a:t>
            </a:r>
            <a:endParaRPr lang="en-US"/>
          </a:p>
        </p:txBody>
      </p:sp>
    </p:spTree>
    <p:extLst>
      <p:ext uri="{BB962C8B-B14F-4D97-AF65-F5344CB8AC3E}">
        <p14:creationId xmlns:p14="http://schemas.microsoft.com/office/powerpoint/2010/main" val="354356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D118D3-4428-D9A2-520E-7958448E84D0}"/>
              </a:ext>
            </a:extLst>
          </p:cNvPr>
          <p:cNvSpPr>
            <a:spLocks noGrp="1"/>
          </p:cNvSpPr>
          <p:nvPr>
            <p:ph type="title"/>
          </p:nvPr>
        </p:nvSpPr>
        <p:spPr>
          <a:xfrm>
            <a:off x="268765" y="196360"/>
            <a:ext cx="10449784" cy="2296442"/>
          </a:xfrm>
        </p:spPr>
        <p:txBody>
          <a:bodyPr>
            <a:normAutofit fontScale="90000"/>
          </a:bodyPr>
          <a:lstStyle/>
          <a:p>
            <a:br>
              <a:rPr lang="en-US">
                <a:ea typeface="+mj-lt"/>
                <a:cs typeface="+mj-lt"/>
              </a:rPr>
            </a:br>
            <a:br>
              <a:rPr lang="en-US">
                <a:ea typeface="+mj-lt"/>
                <a:cs typeface="+mj-lt"/>
              </a:rPr>
            </a:br>
            <a:br>
              <a:rPr lang="en-US">
                <a:ea typeface="+mj-lt"/>
                <a:cs typeface="+mj-lt"/>
              </a:rPr>
            </a:br>
            <a:r>
              <a:rPr lang="en-US">
                <a:ea typeface="+mj-lt"/>
                <a:cs typeface="+mj-lt"/>
              </a:rPr>
              <a:t>Before Running Tool</a:t>
            </a:r>
            <a:br>
              <a:rPr lang="en-US">
                <a:ea typeface="+mj-lt"/>
                <a:cs typeface="+mj-lt"/>
              </a:rPr>
            </a:br>
            <a:br>
              <a:rPr lang="en-US"/>
            </a:br>
            <a:r>
              <a:rPr lang="en-US" sz="2000">
                <a:ea typeface="+mj-lt"/>
                <a:cs typeface="+mj-lt"/>
              </a:rPr>
              <a:t>This is the original pom.xml file of the tested project, taken from its GitHub repository (</a:t>
            </a:r>
            <a:r>
              <a:rPr lang="en-US" sz="2000">
                <a:ea typeface="+mj-lt"/>
                <a:cs typeface="+mj-lt"/>
                <a:hlinkClick r:id="rId2"/>
              </a:rPr>
              <a:t>https://github.com/jvondermarck/dinosaur-exploder</a:t>
            </a:r>
            <a:r>
              <a:rPr lang="en-US" sz="2000">
                <a:ea typeface="+mj-lt"/>
                <a:cs typeface="+mj-lt"/>
              </a:rPr>
              <a:t>), before our tool checked it. It has the dependencies and basic settings, but no plugin to build a runnable JAR file. Because of this, the JAR file has no "Main-Class" information, so the program cannot start with java -jar.</a:t>
            </a:r>
          </a:p>
        </p:txBody>
      </p:sp>
      <p:pic>
        <p:nvPicPr>
          <p:cNvPr id="7" name="Content Placeholder 6">
            <a:extLst>
              <a:ext uri="{FF2B5EF4-FFF2-40B4-BE49-F238E27FC236}">
                <a16:creationId xmlns:a16="http://schemas.microsoft.com/office/drawing/2014/main" id="{BDE79D91-778E-EA97-C1C5-E4BCD6C25AC4}"/>
              </a:ext>
            </a:extLst>
          </p:cNvPr>
          <p:cNvPicPr>
            <a:picLocks noGrp="1" noChangeAspect="1"/>
          </p:cNvPicPr>
          <p:nvPr>
            <p:ph idx="1"/>
          </p:nvPr>
        </p:nvPicPr>
        <p:blipFill>
          <a:blip r:embed="rId3"/>
          <a:stretch>
            <a:fillRect/>
          </a:stretch>
        </p:blipFill>
        <p:spPr>
          <a:xfrm>
            <a:off x="-289" y="2614010"/>
            <a:ext cx="11712447" cy="4087593"/>
          </a:xfrm>
          <a:prstGeom prst="rect">
            <a:avLst/>
          </a:prstGeom>
        </p:spPr>
      </p:pic>
      <p:sp>
        <p:nvSpPr>
          <p:cNvPr id="4" name="Date Placeholder 3">
            <a:extLst>
              <a:ext uri="{FF2B5EF4-FFF2-40B4-BE49-F238E27FC236}">
                <a16:creationId xmlns:a16="http://schemas.microsoft.com/office/drawing/2014/main" id="{2B90CAA6-08CD-DB43-9BD5-CDA50CC33B8A}"/>
              </a:ext>
            </a:extLst>
          </p:cNvPr>
          <p:cNvSpPr>
            <a:spLocks noGrp="1"/>
          </p:cNvSpPr>
          <p:nvPr>
            <p:ph type="dt" sz="half" idx="10"/>
          </p:nvPr>
        </p:nvSpPr>
        <p:spPr/>
        <p:txBody>
          <a:bodyPr/>
          <a:lstStyle/>
          <a:p>
            <a:fld id="{E44A2403-3F80-4D3C-9CF4-9E0249DC53BF}" type="datetime1">
              <a:t>6/22/2026</a:t>
            </a:fld>
            <a:endParaRPr lang="en-US"/>
          </a:p>
        </p:txBody>
      </p:sp>
      <p:sp>
        <p:nvSpPr>
          <p:cNvPr id="5" name="Footer Placeholder 4">
            <a:extLst>
              <a:ext uri="{FF2B5EF4-FFF2-40B4-BE49-F238E27FC236}">
                <a16:creationId xmlns:a16="http://schemas.microsoft.com/office/drawing/2014/main" id="{F9A00DB9-949D-41B2-15CC-4455862246CF}"/>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82989695-0855-4E07-076E-419A6770C4B9}"/>
              </a:ext>
            </a:extLst>
          </p:cNvPr>
          <p:cNvSpPr>
            <a:spLocks noGrp="1"/>
          </p:cNvSpPr>
          <p:nvPr>
            <p:ph type="sldNum" sz="quarter" idx="12"/>
          </p:nvPr>
        </p:nvSpPr>
        <p:spPr/>
        <p:txBody>
          <a:bodyPr/>
          <a:lstStyle/>
          <a:p>
            <a:fld id="{5E4DE196-8A13-4FF7-A07E-102851959EAB}" type="slidenum">
              <a:rPr lang="en-US" dirty="0"/>
              <a:t>11</a:t>
            </a:fld>
            <a:endParaRPr lang="en-US"/>
          </a:p>
        </p:txBody>
      </p:sp>
    </p:spTree>
    <p:extLst>
      <p:ext uri="{BB962C8B-B14F-4D97-AF65-F5344CB8AC3E}">
        <p14:creationId xmlns:p14="http://schemas.microsoft.com/office/powerpoint/2010/main" val="35302317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970E80-6F02-E620-391B-E029A77AEEB8}"/>
              </a:ext>
            </a:extLst>
          </p:cNvPr>
          <p:cNvSpPr>
            <a:spLocks noGrp="1"/>
          </p:cNvSpPr>
          <p:nvPr>
            <p:ph type="title"/>
          </p:nvPr>
        </p:nvSpPr>
        <p:spPr>
          <a:xfrm>
            <a:off x="297793" y="2279159"/>
            <a:ext cx="10449784" cy="1265928"/>
          </a:xfrm>
        </p:spPr>
        <p:txBody>
          <a:bodyPr>
            <a:normAutofit fontScale="90000"/>
          </a:bodyPr>
          <a:lstStyle/>
          <a:p>
            <a:r>
              <a:rPr lang="en-US">
                <a:ea typeface="+mj-lt"/>
                <a:cs typeface="+mj-lt"/>
              </a:rPr>
              <a:t>After Running Tool</a:t>
            </a:r>
            <a:br>
              <a:rPr lang="en-US">
                <a:ea typeface="+mj-lt"/>
                <a:cs typeface="+mj-lt"/>
              </a:rPr>
            </a:br>
            <a:br>
              <a:rPr lang="en-US"/>
            </a:br>
            <a:r>
              <a:rPr lang="en-US" sz="1800">
                <a:ea typeface="+mj-lt"/>
                <a:cs typeface="+mj-lt"/>
              </a:rPr>
              <a:t>Program Output (Left): The tool ran the project, but it did not start correctly. The JAR file did not have a "Main-Class" defined in its manifest, so Java did not know which class to run.</a:t>
            </a:r>
            <a:br>
              <a:rPr lang="en-US" sz="1800">
                <a:ea typeface="+mj-lt"/>
                <a:cs typeface="+mj-lt"/>
              </a:rPr>
            </a:br>
            <a:endParaRPr lang="en-US" sz="1800"/>
          </a:p>
          <a:p>
            <a:r>
              <a:rPr lang="en-US" sz="1800">
                <a:ea typeface="+mj-lt"/>
                <a:cs typeface="+mj-lt"/>
              </a:rPr>
              <a:t>Fixed Implementation (Right): The AI implemented the fixed code directly in the source code by adding a </a:t>
            </a:r>
            <a:r>
              <a:rPr lang="en-US" sz="1800">
                <a:latin typeface="Consolas"/>
              </a:rPr>
              <a:t>maven-jar-plugin</a:t>
            </a:r>
            <a:r>
              <a:rPr lang="en-US" sz="1800">
                <a:ea typeface="+mj-lt"/>
                <a:cs typeface="+mj-lt"/>
              </a:rPr>
              <a:t> block to the pom.xml file, with the main class specified inside it. Now Maven knows the correct entry point, and the JAR file can be run with </a:t>
            </a:r>
            <a:r>
              <a:rPr lang="en-US" sz="1800">
                <a:latin typeface="Consolas"/>
              </a:rPr>
              <a:t>java -jar</a:t>
            </a:r>
            <a:r>
              <a:rPr lang="en-US" sz="1800">
                <a:ea typeface="+mj-lt"/>
                <a:cs typeface="+mj-lt"/>
              </a:rPr>
              <a:t>.</a:t>
            </a:r>
          </a:p>
          <a:p>
            <a:endParaRPr lang="en-US"/>
          </a:p>
        </p:txBody>
      </p:sp>
      <p:pic>
        <p:nvPicPr>
          <p:cNvPr id="7" name="Content Placeholder 6">
            <a:extLst>
              <a:ext uri="{FF2B5EF4-FFF2-40B4-BE49-F238E27FC236}">
                <a16:creationId xmlns:a16="http://schemas.microsoft.com/office/drawing/2014/main" id="{AC31F6E2-6A1F-CF4D-2681-1E619C8C9FA5}"/>
              </a:ext>
            </a:extLst>
          </p:cNvPr>
          <p:cNvPicPr>
            <a:picLocks noGrp="1" noChangeAspect="1"/>
          </p:cNvPicPr>
          <p:nvPr>
            <p:ph idx="1"/>
          </p:nvPr>
        </p:nvPicPr>
        <p:blipFill>
          <a:blip r:embed="rId2"/>
          <a:stretch>
            <a:fillRect/>
          </a:stretch>
        </p:blipFill>
        <p:spPr>
          <a:xfrm>
            <a:off x="166749" y="3224784"/>
            <a:ext cx="5928254" cy="3134563"/>
          </a:xfrm>
          <a:prstGeom prst="rect">
            <a:avLst/>
          </a:prstGeom>
        </p:spPr>
      </p:pic>
      <p:sp>
        <p:nvSpPr>
          <p:cNvPr id="4" name="Date Placeholder 3">
            <a:extLst>
              <a:ext uri="{FF2B5EF4-FFF2-40B4-BE49-F238E27FC236}">
                <a16:creationId xmlns:a16="http://schemas.microsoft.com/office/drawing/2014/main" id="{742D16E8-CA66-9094-C7A3-D2ABF274E3A4}"/>
              </a:ext>
            </a:extLst>
          </p:cNvPr>
          <p:cNvSpPr>
            <a:spLocks noGrp="1"/>
          </p:cNvSpPr>
          <p:nvPr>
            <p:ph type="dt" sz="half" idx="10"/>
          </p:nvPr>
        </p:nvSpPr>
        <p:spPr/>
        <p:txBody>
          <a:bodyPr/>
          <a:lstStyle/>
          <a:p>
            <a:fld id="{7ABAE8FB-7B32-4ADC-831A-AF0C5E6761C1}" type="datetime1">
              <a:t>6/22/2026</a:t>
            </a:fld>
            <a:endParaRPr lang="en-US"/>
          </a:p>
        </p:txBody>
      </p:sp>
      <p:sp>
        <p:nvSpPr>
          <p:cNvPr id="5" name="Footer Placeholder 4">
            <a:extLst>
              <a:ext uri="{FF2B5EF4-FFF2-40B4-BE49-F238E27FC236}">
                <a16:creationId xmlns:a16="http://schemas.microsoft.com/office/drawing/2014/main" id="{EC28A021-3CD2-C148-85B8-4E1F73D328B7}"/>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9CD7A90D-B7AF-81DB-18F2-459491A58BC2}"/>
              </a:ext>
            </a:extLst>
          </p:cNvPr>
          <p:cNvSpPr>
            <a:spLocks noGrp="1"/>
          </p:cNvSpPr>
          <p:nvPr>
            <p:ph type="sldNum" sz="quarter" idx="12"/>
          </p:nvPr>
        </p:nvSpPr>
        <p:spPr/>
        <p:txBody>
          <a:bodyPr/>
          <a:lstStyle/>
          <a:p>
            <a:fld id="{5E4DE196-8A13-4FF7-A07E-102851959EAB}" type="slidenum">
              <a:rPr lang="en-US" dirty="0"/>
              <a:t>12</a:t>
            </a:fld>
            <a:endParaRPr lang="en-US"/>
          </a:p>
        </p:txBody>
      </p:sp>
      <p:pic>
        <p:nvPicPr>
          <p:cNvPr id="8" name="Picture 7">
            <a:extLst>
              <a:ext uri="{FF2B5EF4-FFF2-40B4-BE49-F238E27FC236}">
                <a16:creationId xmlns:a16="http://schemas.microsoft.com/office/drawing/2014/main" id="{580387FC-ED9D-C664-5645-C23437551A96}"/>
              </a:ext>
            </a:extLst>
          </p:cNvPr>
          <p:cNvPicPr>
            <a:picLocks noChangeAspect="1"/>
          </p:cNvPicPr>
          <p:nvPr/>
        </p:nvPicPr>
        <p:blipFill>
          <a:blip r:embed="rId3"/>
          <a:stretch>
            <a:fillRect/>
          </a:stretch>
        </p:blipFill>
        <p:spPr>
          <a:xfrm>
            <a:off x="6291942" y="2761796"/>
            <a:ext cx="5399315" cy="3780065"/>
          </a:xfrm>
          <a:prstGeom prst="rect">
            <a:avLst/>
          </a:prstGeom>
        </p:spPr>
      </p:pic>
    </p:spTree>
    <p:extLst>
      <p:ext uri="{BB962C8B-B14F-4D97-AF65-F5344CB8AC3E}">
        <p14:creationId xmlns:p14="http://schemas.microsoft.com/office/powerpoint/2010/main" val="4117698186"/>
      </p:ext>
    </p:extLst>
  </p:cSld>
  <p:clrMapOvr>
    <a:masterClrMapping/>
  </p:clrMapOvr>
</p:sld>
</file>

<file path=ppt/theme/theme1.xml><?xml version="1.0" encoding="utf-8"?>
<a:theme xmlns:a="http://schemas.openxmlformats.org/drawingml/2006/main" name="BohoVogueVTI">
  <a:themeElements>
    <a:clrScheme name="BohoVogueVTI">
      <a:dk1>
        <a:sysClr val="windowText" lastClr="000000"/>
      </a:dk1>
      <a:lt1>
        <a:sysClr val="window" lastClr="FFFFFF"/>
      </a:lt1>
      <a:dk2>
        <a:srgbClr val="35403A"/>
      </a:dk2>
      <a:lt2>
        <a:srgbClr val="F1EFEB"/>
      </a:lt2>
      <a:accent1>
        <a:srgbClr val="9E8B50"/>
      </a:accent1>
      <a:accent2>
        <a:srgbClr val="D5966B"/>
      </a:accent2>
      <a:accent3>
        <a:srgbClr val="9BA6BB"/>
      </a:accent3>
      <a:accent4>
        <a:srgbClr val="869880"/>
      </a:accent4>
      <a:accent5>
        <a:srgbClr val="588267"/>
      </a:accent5>
      <a:accent6>
        <a:srgbClr val="B89C46"/>
      </a:accent6>
      <a:hlink>
        <a:srgbClr val="C77138"/>
      </a:hlink>
      <a:folHlink>
        <a:srgbClr val="589374"/>
      </a:folHlink>
    </a:clrScheme>
    <a:fontScheme name="BohoVogueVTI">
      <a:majorFont>
        <a:latin typeface="Walbaum Display"/>
        <a:ea typeface=""/>
        <a:cs typeface=""/>
      </a:majorFont>
      <a:minorFont>
        <a:latin typeface="Aptos Light"/>
        <a:ea typeface=""/>
        <a:cs typeface=""/>
      </a:minorFont>
    </a:fontScheme>
    <a:fmtScheme name="BohoVogueVTI">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ohoVogueVTI" id="{587E0025-A466-4551-A341-1A9F570FDF06}" vid="{F615CBBD-D1BB-4663-887F-92A47C7C6ABA}"/>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12</Slides>
  <Notes>0</Notes>
  <HiddenSlides>0</HiddenSlide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BohoVogueVTI</vt:lpstr>
      <vt:lpstr>2buggAI</vt:lpstr>
      <vt:lpstr>Project Goals</vt:lpstr>
      <vt:lpstr>Implementations</vt:lpstr>
      <vt:lpstr>Implementations</vt:lpstr>
      <vt:lpstr>Architecture</vt:lpstr>
      <vt:lpstr>Testing Overview &amp; What Worked</vt:lpstr>
      <vt:lpstr>Continuous Development &amp; Limitations </vt:lpstr>
      <vt:lpstr>Example Run of 2buggAI</vt:lpstr>
      <vt:lpstr>Example Run of 2buggAI </vt:lpstr>
      <vt:lpstr>Example Run of 2buggAI</vt:lpstr>
      <vt:lpstr>   Before Running Tool  This is the original pom.xml file of the tested project, taken from its GitHub repository (https://github.com/jvondermarck/dinosaur-exploder), before our tool checked it. It has the dependencies and basic settings, but no plugin to build a runnable JAR file. Because of this, the JAR file has no "Main-Class" information, so the program cannot start with java -jar.</vt:lpstr>
      <vt:lpstr>After Running Tool  Program Output (Left): The tool ran the project, but it did not start correctly. The JAR file did not have a "Main-Class" defined in its manifest, so Java did not know which class to run.  Fixed Implementation (Right): The AI implemented the fixed code directly in the source code by adding a maven-jar-plugin block to the pom.xml file, with the main class specified inside it. Now Maven knows the correct entry point, and the JAR file can be run with java -jar.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cp:revision>
  <dcterms:created xsi:type="dcterms:W3CDTF">2026-06-20T11:05:55Z</dcterms:created>
  <dcterms:modified xsi:type="dcterms:W3CDTF">2026-06-22T22:59:29Z</dcterms:modified>
</cp:coreProperties>
</file>