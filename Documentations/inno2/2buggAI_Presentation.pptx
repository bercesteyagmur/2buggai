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63" r:id="rId3"/>
    <p:sldId id="257" r:id="rId4"/>
    <p:sldId id="258" r:id="rId5"/>
    <p:sldId id="259" r:id="rId6"/>
    <p:sldId id="262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47E07C-0111-1BC4-B4C3-D42469E68F3A}" v="540" dt="2026-06-21T11:57:36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803667-5069-49DF-9E6A-6D6F79318641}" type="doc">
      <dgm:prSet loTypeId="urn:microsoft.com/office/officeart/2005/8/layout/process1" loCatId="process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A363EC9-DBD1-4490-824A-2412788C591A}">
      <dgm:prSet custT="0"/>
      <dgm:spPr/>
      <dgm:t>
        <a:bodyPr/>
        <a:lstStyle/>
        <a:p>
          <a:pPr rtl="0"/>
          <a:r>
            <a:rPr lang="en-US"/>
            <a:t>Input Layer: </a:t>
          </a:r>
          <a:r>
            <a:rPr lang="en-US">
              <a:latin typeface="Walbaum Display"/>
            </a:rPr>
            <a:t>Developer</a:t>
          </a:r>
          <a:r>
            <a:rPr lang="en-US"/>
            <a:t> runs the tool via CLI, providing a path to a repository, a short fix description, and optional flags </a:t>
          </a:r>
          <a:endParaRPr lang="en-US">
            <a:latin typeface="Walbaum Display"/>
          </a:endParaRPr>
        </a:p>
      </dgm:t>
    </dgm:pt>
    <dgm:pt modelId="{AB3F52C3-797A-45E4-99A7-A83E98702FF6}" type="parTrans" cxnId="{1ECA9370-AAD3-4715-AB30-B5EDB55391AB}">
      <dgm:prSet/>
      <dgm:spPr/>
      <dgm:t>
        <a:bodyPr/>
        <a:lstStyle/>
        <a:p>
          <a:endParaRPr lang="en-US"/>
        </a:p>
      </dgm:t>
    </dgm:pt>
    <dgm:pt modelId="{E634C378-2EA4-4E2C-B902-825FC2DD9108}" type="sibTrans" cxnId="{1ECA9370-AAD3-4715-AB30-B5EDB55391AB}">
      <dgm:prSet/>
      <dgm:spPr/>
      <dgm:t>
        <a:bodyPr/>
        <a:lstStyle/>
        <a:p>
          <a:endParaRPr lang="en-US"/>
        </a:p>
      </dgm:t>
    </dgm:pt>
    <dgm:pt modelId="{445BBD6B-A4F9-4ED1-A0D6-37C9A98EFE53}">
      <dgm:prSet/>
      <dgm:spPr/>
      <dgm:t>
        <a:bodyPr/>
        <a:lstStyle/>
        <a:p>
          <a:r>
            <a:rPr lang="en-US" dirty="0"/>
            <a:t>Output Layer: Results are displayed in the terminal as a structured debug report including detected errors, AI explanation, suggested fix, and the fix applied directly into the source file with a .</a:t>
          </a:r>
          <a:r>
            <a:rPr lang="en-US" dirty="0" err="1"/>
            <a:t>bak</a:t>
          </a:r>
          <a:r>
            <a:rPr lang="en-US" dirty="0"/>
            <a:t> backup. Optionally the full report including source code, compile output, error list, and AI analysis is saved as a JSON file.</a:t>
          </a:r>
        </a:p>
      </dgm:t>
    </dgm:pt>
    <dgm:pt modelId="{EE7485E8-12FD-4A36-B53B-11147C1702B4}" type="parTrans" cxnId="{E02E4948-F82B-4A6A-B9EF-200B6548B343}">
      <dgm:prSet/>
      <dgm:spPr/>
      <dgm:t>
        <a:bodyPr/>
        <a:lstStyle/>
        <a:p>
          <a:endParaRPr lang="en-US"/>
        </a:p>
      </dgm:t>
    </dgm:pt>
    <dgm:pt modelId="{901F045E-F96D-4E93-9127-C1667169B26F}" type="sibTrans" cxnId="{E02E4948-F82B-4A6A-B9EF-200B6548B343}">
      <dgm:prSet/>
      <dgm:spPr/>
      <dgm:t>
        <a:bodyPr/>
        <a:lstStyle/>
        <a:p>
          <a:endParaRPr lang="en-US"/>
        </a:p>
      </dgm:t>
    </dgm:pt>
    <dgm:pt modelId="{9E87BEE5-9CB2-41CC-BEEA-64CA45EFE103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Processing Layer: Our tool automatically handles everything: file collection, language and build system detection, dependency installation, compilation, debugging, error classification, and AI analysis</a:t>
          </a:r>
          <a:r>
            <a:rPr lang="en-US">
              <a:latin typeface="Walbaum Display"/>
            </a:rPr>
            <a:t>.</a:t>
          </a:r>
          <a:endParaRPr lang="en-US"/>
        </a:p>
      </dgm:t>
    </dgm:pt>
    <dgm:pt modelId="{954D0BB3-43FC-4E11-8BF9-44B1D52B866F}" type="parTrans" cxnId="{CBC384E5-564D-4607-BBD6-95453F35A036}">
      <dgm:prSet/>
      <dgm:spPr/>
    </dgm:pt>
    <dgm:pt modelId="{C6C017EE-0608-4B6E-BF33-D55151E6D5FD}" type="sibTrans" cxnId="{CBC384E5-564D-4607-BBD6-95453F35A036}">
      <dgm:prSet/>
      <dgm:spPr/>
      <dgm:t>
        <a:bodyPr/>
        <a:lstStyle/>
        <a:p>
          <a:endParaRPr lang="en-US"/>
        </a:p>
      </dgm:t>
    </dgm:pt>
    <dgm:pt modelId="{54090DFF-E29B-4D01-8D61-34FF2AFC3593}" type="pres">
      <dgm:prSet presAssocID="{4B803667-5069-49DF-9E6A-6D6F79318641}" presName="Name0" presStyleCnt="0">
        <dgm:presLayoutVars>
          <dgm:dir/>
          <dgm:resizeHandles val="exact"/>
        </dgm:presLayoutVars>
      </dgm:prSet>
      <dgm:spPr/>
    </dgm:pt>
    <dgm:pt modelId="{5ACBFF90-D89B-4685-8AFD-2253BBF51D21}" type="pres">
      <dgm:prSet presAssocID="{4A363EC9-DBD1-4490-824A-2412788C591A}" presName="node" presStyleLbl="node1" presStyleIdx="0" presStyleCnt="3">
        <dgm:presLayoutVars>
          <dgm:bulletEnabled val="1"/>
        </dgm:presLayoutVars>
      </dgm:prSet>
      <dgm:spPr/>
    </dgm:pt>
    <dgm:pt modelId="{AFD6BB83-E41C-4593-9EA5-273E6E36106C}" type="pres">
      <dgm:prSet presAssocID="{E634C378-2EA4-4E2C-B902-825FC2DD9108}" presName="sibTrans" presStyleLbl="sibTrans2D1" presStyleIdx="0" presStyleCnt="2"/>
      <dgm:spPr/>
    </dgm:pt>
    <dgm:pt modelId="{E66C087F-1E87-4578-B315-B030E2E222CE}" type="pres">
      <dgm:prSet presAssocID="{E634C378-2EA4-4E2C-B902-825FC2DD9108}" presName="connectorText" presStyleLbl="sibTrans2D1" presStyleIdx="0" presStyleCnt="2"/>
      <dgm:spPr/>
    </dgm:pt>
    <dgm:pt modelId="{15997941-8702-462C-83AE-CE3F8FDCCF29}" type="pres">
      <dgm:prSet presAssocID="{9E87BEE5-9CB2-41CC-BEEA-64CA45EFE103}" presName="node" presStyleLbl="node1" presStyleIdx="1" presStyleCnt="3">
        <dgm:presLayoutVars>
          <dgm:bulletEnabled val="1"/>
        </dgm:presLayoutVars>
      </dgm:prSet>
      <dgm:spPr/>
    </dgm:pt>
    <dgm:pt modelId="{876E5472-D01A-4DB9-A143-0BC173871CB4}" type="pres">
      <dgm:prSet presAssocID="{C6C017EE-0608-4B6E-BF33-D55151E6D5FD}" presName="sibTrans" presStyleLbl="sibTrans2D1" presStyleIdx="1" presStyleCnt="2"/>
      <dgm:spPr/>
    </dgm:pt>
    <dgm:pt modelId="{9421BB69-3CE6-47F1-A075-6EB7D48BB0EB}" type="pres">
      <dgm:prSet presAssocID="{C6C017EE-0608-4B6E-BF33-D55151E6D5FD}" presName="connectorText" presStyleLbl="sibTrans2D1" presStyleIdx="1" presStyleCnt="2"/>
      <dgm:spPr/>
    </dgm:pt>
    <dgm:pt modelId="{E966E60C-7395-49F9-88A6-1C5BB1ABFE49}" type="pres">
      <dgm:prSet presAssocID="{445BBD6B-A4F9-4ED1-A0D6-37C9A98EFE53}" presName="node" presStyleLbl="node1" presStyleIdx="2" presStyleCnt="3">
        <dgm:presLayoutVars>
          <dgm:bulletEnabled val="1"/>
        </dgm:presLayoutVars>
      </dgm:prSet>
      <dgm:spPr/>
    </dgm:pt>
  </dgm:ptLst>
  <dgm:cxnLst>
    <dgm:cxn modelId="{2881A623-808B-4EDB-A7A3-D03F5896A087}" type="presOf" srcId="{4A363EC9-DBD1-4490-824A-2412788C591A}" destId="{5ACBFF90-D89B-4685-8AFD-2253BBF51D21}" srcOrd="0" destOrd="0" presId="urn:microsoft.com/office/officeart/2005/8/layout/process1"/>
    <dgm:cxn modelId="{BC373426-FF7B-46F4-A3C3-163261E041B0}" type="presOf" srcId="{E634C378-2EA4-4E2C-B902-825FC2DD9108}" destId="{E66C087F-1E87-4578-B315-B030E2E222CE}" srcOrd="1" destOrd="0" presId="urn:microsoft.com/office/officeart/2005/8/layout/process1"/>
    <dgm:cxn modelId="{19697C31-0D5D-4269-95BC-DC18F7E3D984}" type="presOf" srcId="{445BBD6B-A4F9-4ED1-A0D6-37C9A98EFE53}" destId="{E966E60C-7395-49F9-88A6-1C5BB1ABFE49}" srcOrd="0" destOrd="0" presId="urn:microsoft.com/office/officeart/2005/8/layout/process1"/>
    <dgm:cxn modelId="{E02E4948-F82B-4A6A-B9EF-200B6548B343}" srcId="{4B803667-5069-49DF-9E6A-6D6F79318641}" destId="{445BBD6B-A4F9-4ED1-A0D6-37C9A98EFE53}" srcOrd="2" destOrd="0" parTransId="{EE7485E8-12FD-4A36-B53B-11147C1702B4}" sibTransId="{901F045E-F96D-4E93-9127-C1667169B26F}"/>
    <dgm:cxn modelId="{1ECA9370-AAD3-4715-AB30-B5EDB55391AB}" srcId="{4B803667-5069-49DF-9E6A-6D6F79318641}" destId="{4A363EC9-DBD1-4490-824A-2412788C591A}" srcOrd="0" destOrd="0" parTransId="{AB3F52C3-797A-45E4-99A7-A83E98702FF6}" sibTransId="{E634C378-2EA4-4E2C-B902-825FC2DD9108}"/>
    <dgm:cxn modelId="{1E532386-CB17-4CBA-8250-8A41A163BFE5}" type="presOf" srcId="{C6C017EE-0608-4B6E-BF33-D55151E6D5FD}" destId="{9421BB69-3CE6-47F1-A075-6EB7D48BB0EB}" srcOrd="1" destOrd="0" presId="urn:microsoft.com/office/officeart/2005/8/layout/process1"/>
    <dgm:cxn modelId="{E92EF29E-4795-4A34-8B2C-2727BE9ACDF1}" type="presOf" srcId="{E634C378-2EA4-4E2C-B902-825FC2DD9108}" destId="{AFD6BB83-E41C-4593-9EA5-273E6E36106C}" srcOrd="0" destOrd="0" presId="urn:microsoft.com/office/officeart/2005/8/layout/process1"/>
    <dgm:cxn modelId="{CAC500A4-38E7-4C7A-AD78-7D0151AE54B3}" type="presOf" srcId="{4B803667-5069-49DF-9E6A-6D6F79318641}" destId="{54090DFF-E29B-4D01-8D61-34FF2AFC3593}" srcOrd="0" destOrd="0" presId="urn:microsoft.com/office/officeart/2005/8/layout/process1"/>
    <dgm:cxn modelId="{829E55D5-F3E1-4261-A3C7-85F93B2D4089}" type="presOf" srcId="{9E87BEE5-9CB2-41CC-BEEA-64CA45EFE103}" destId="{15997941-8702-462C-83AE-CE3F8FDCCF29}" srcOrd="0" destOrd="0" presId="urn:microsoft.com/office/officeart/2005/8/layout/process1"/>
    <dgm:cxn modelId="{CBC384E5-564D-4607-BBD6-95453F35A036}" srcId="{4B803667-5069-49DF-9E6A-6D6F79318641}" destId="{9E87BEE5-9CB2-41CC-BEEA-64CA45EFE103}" srcOrd="1" destOrd="0" parTransId="{954D0BB3-43FC-4E11-8BF9-44B1D52B866F}" sibTransId="{C6C017EE-0608-4B6E-BF33-D55151E6D5FD}"/>
    <dgm:cxn modelId="{0D6E37FA-E53A-4152-9494-F59A1D8383C6}" type="presOf" srcId="{C6C017EE-0608-4B6E-BF33-D55151E6D5FD}" destId="{876E5472-D01A-4DB9-A143-0BC173871CB4}" srcOrd="0" destOrd="0" presId="urn:microsoft.com/office/officeart/2005/8/layout/process1"/>
    <dgm:cxn modelId="{B2D59B1A-950E-4E45-A47D-779862C53352}" type="presParOf" srcId="{54090DFF-E29B-4D01-8D61-34FF2AFC3593}" destId="{5ACBFF90-D89B-4685-8AFD-2253BBF51D21}" srcOrd="0" destOrd="0" presId="urn:microsoft.com/office/officeart/2005/8/layout/process1"/>
    <dgm:cxn modelId="{6852C2F3-7206-4668-A4C1-E33D01FFB280}" type="presParOf" srcId="{54090DFF-E29B-4D01-8D61-34FF2AFC3593}" destId="{AFD6BB83-E41C-4593-9EA5-273E6E36106C}" srcOrd="1" destOrd="0" presId="urn:microsoft.com/office/officeart/2005/8/layout/process1"/>
    <dgm:cxn modelId="{2B06229C-3747-40F1-BA22-4D841B639847}" type="presParOf" srcId="{AFD6BB83-E41C-4593-9EA5-273E6E36106C}" destId="{E66C087F-1E87-4578-B315-B030E2E222CE}" srcOrd="0" destOrd="0" presId="urn:microsoft.com/office/officeart/2005/8/layout/process1"/>
    <dgm:cxn modelId="{03301B1C-CC30-4AF2-AC3E-2503773A9E44}" type="presParOf" srcId="{54090DFF-E29B-4D01-8D61-34FF2AFC3593}" destId="{15997941-8702-462C-83AE-CE3F8FDCCF29}" srcOrd="2" destOrd="0" presId="urn:microsoft.com/office/officeart/2005/8/layout/process1"/>
    <dgm:cxn modelId="{6B899241-FBEB-401E-A76F-7280DAB3CE09}" type="presParOf" srcId="{54090DFF-E29B-4D01-8D61-34FF2AFC3593}" destId="{876E5472-D01A-4DB9-A143-0BC173871CB4}" srcOrd="3" destOrd="0" presId="urn:microsoft.com/office/officeart/2005/8/layout/process1"/>
    <dgm:cxn modelId="{DE6656D6-61C6-47A0-ADE8-2E7FD09D9D09}" type="presParOf" srcId="{876E5472-D01A-4DB9-A143-0BC173871CB4}" destId="{9421BB69-3CE6-47F1-A075-6EB7D48BB0EB}" srcOrd="0" destOrd="0" presId="urn:microsoft.com/office/officeart/2005/8/layout/process1"/>
    <dgm:cxn modelId="{830EBD80-D603-4F42-BA15-2E796B40087B}" type="presParOf" srcId="{54090DFF-E29B-4D01-8D61-34FF2AFC3593}" destId="{E966E60C-7395-49F9-88A6-1C5BB1ABFE4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BFF90-D89B-4685-8AFD-2253BBF51D21}">
      <dsp:nvSpPr>
        <dsp:cNvPr id="0" name=""/>
        <dsp:cNvSpPr/>
      </dsp:nvSpPr>
      <dsp:spPr>
        <a:xfrm>
          <a:off x="9318" y="231497"/>
          <a:ext cx="2785123" cy="38472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Input Layer: </a:t>
          </a:r>
          <a:r>
            <a:rPr lang="en-US" sz="1800" kern="1200">
              <a:latin typeface="Walbaum Display"/>
            </a:rPr>
            <a:t>Developer</a:t>
          </a:r>
          <a:r>
            <a:rPr lang="en-US" sz="1800" kern="1200"/>
            <a:t> runs the tool via CLI, providing a path to a repository, a short fix description, and optional flags </a:t>
          </a:r>
          <a:endParaRPr lang="en-US" sz="1800" kern="1200">
            <a:latin typeface="Walbaum Display"/>
          </a:endParaRPr>
        </a:p>
      </dsp:txBody>
      <dsp:txXfrm>
        <a:off x="90891" y="313070"/>
        <a:ext cx="2621977" cy="3684077"/>
      </dsp:txXfrm>
    </dsp:sp>
    <dsp:sp modelId="{AFD6BB83-E41C-4593-9EA5-273E6E36106C}">
      <dsp:nvSpPr>
        <dsp:cNvPr id="0" name=""/>
        <dsp:cNvSpPr/>
      </dsp:nvSpPr>
      <dsp:spPr>
        <a:xfrm>
          <a:off x="3072953" y="1809754"/>
          <a:ext cx="590446" cy="69071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072953" y="1947896"/>
        <a:ext cx="413312" cy="414426"/>
      </dsp:txXfrm>
    </dsp:sp>
    <dsp:sp modelId="{15997941-8702-462C-83AE-CE3F8FDCCF29}">
      <dsp:nvSpPr>
        <dsp:cNvPr id="0" name=""/>
        <dsp:cNvSpPr/>
      </dsp:nvSpPr>
      <dsp:spPr>
        <a:xfrm>
          <a:off x="3908490" y="231497"/>
          <a:ext cx="2785123" cy="38472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Processing Layer: Our tool automatically handles everything: file collection, language and build system detection, dependency installation, compilation, debugging, error classification, and AI analysis</a:t>
          </a:r>
          <a:r>
            <a:rPr lang="en-US" sz="1800" kern="1200">
              <a:latin typeface="Walbaum Display"/>
            </a:rPr>
            <a:t>.</a:t>
          </a:r>
          <a:endParaRPr lang="en-US" sz="1800" kern="1200"/>
        </a:p>
      </dsp:txBody>
      <dsp:txXfrm>
        <a:off x="3990063" y="313070"/>
        <a:ext cx="2621977" cy="3684077"/>
      </dsp:txXfrm>
    </dsp:sp>
    <dsp:sp modelId="{876E5472-D01A-4DB9-A143-0BC173871CB4}">
      <dsp:nvSpPr>
        <dsp:cNvPr id="0" name=""/>
        <dsp:cNvSpPr/>
      </dsp:nvSpPr>
      <dsp:spPr>
        <a:xfrm>
          <a:off x="6972126" y="1809754"/>
          <a:ext cx="590446" cy="69071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972126" y="1947896"/>
        <a:ext cx="413312" cy="414426"/>
      </dsp:txXfrm>
    </dsp:sp>
    <dsp:sp modelId="{E966E60C-7395-49F9-88A6-1C5BB1ABFE49}">
      <dsp:nvSpPr>
        <dsp:cNvPr id="0" name=""/>
        <dsp:cNvSpPr/>
      </dsp:nvSpPr>
      <dsp:spPr>
        <a:xfrm>
          <a:off x="7807663" y="231497"/>
          <a:ext cx="2785123" cy="38472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Output Layer: Results are displayed in the terminal as a structured debug report including detected errors, AI explanation, suggested fix, and the fix applied directly into the source file with a .</a:t>
          </a:r>
          <a:r>
            <a:rPr lang="en-US" sz="1800" kern="1200" dirty="0" err="1"/>
            <a:t>bak</a:t>
          </a:r>
          <a:r>
            <a:rPr lang="en-US" sz="1800" kern="1200" dirty="0"/>
            <a:t> backup. Optionally the full report including source code, compile output, error list, and AI analysis is saved as a JSON file.</a:t>
          </a:r>
        </a:p>
      </dsp:txBody>
      <dsp:txXfrm>
        <a:off x="7889236" y="313070"/>
        <a:ext cx="2621977" cy="3684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044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61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12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46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48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13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37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66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42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27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99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46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5049"/>
            <a:ext cx="9144000" cy="2209393"/>
          </a:xfrm>
        </p:spPr>
        <p:txBody>
          <a:bodyPr>
            <a:normAutofit/>
          </a:bodyPr>
          <a:lstStyle/>
          <a:p>
            <a:r>
              <a:rPr lang="en-US" sz="6000"/>
              <a:t>2buggAI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89277"/>
            <a:ext cx="9528628" cy="2532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Team 34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Nikola Cvetkovic · Krystian Kedzior · Berceste Yagmur Aslan Özugur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Innovation Lab 2 · Summer Term 2026</a:t>
            </a:r>
          </a:p>
          <a:p>
            <a:r>
              <a:rPr lang="en-US" dirty="0">
                <a:ea typeface="+mn-lt"/>
                <a:cs typeface="+mn-lt"/>
              </a:rPr>
              <a:t>FH </a:t>
            </a:r>
            <a:r>
              <a:rPr lang="en-US" dirty="0" err="1">
                <a:ea typeface="+mn-lt"/>
                <a:cs typeface="+mn-lt"/>
              </a:rPr>
              <a:t>Technikum</a:t>
            </a:r>
            <a:r>
              <a:rPr lang="en-US" dirty="0">
                <a:ea typeface="+mn-lt"/>
                <a:cs typeface="+mn-lt"/>
              </a:rPr>
              <a:t> Wien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61A2-7DD1-EC21-2D38-D399A696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What is 2BuggAI?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E4289-AC8A-6E7A-38A1-1915893E3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24" y="2085413"/>
            <a:ext cx="10442448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 A command-line tool that automatically debugs real-world software repositories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Supports C, C++, Java, and Python multi-file projects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Integrates GDB, </a:t>
            </a:r>
            <a:r>
              <a:rPr lang="en-US" sz="2000" dirty="0" err="1">
                <a:ea typeface="+mn-lt"/>
                <a:cs typeface="+mn-lt"/>
              </a:rPr>
              <a:t>Valgrind</a:t>
            </a:r>
            <a:r>
              <a:rPr lang="en-US" sz="2000" dirty="0">
                <a:ea typeface="+mn-lt"/>
                <a:cs typeface="+mn-lt"/>
              </a:rPr>
              <a:t>, JDB, and PDB with OpenAI API to analyze and fix bugs automatically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9C89D-F79B-3779-CB00-7F6D9B06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9466-D510-42E2-8CA6-081A9AE5DCA8}" type="datetime1">
              <a:t>6/21/2026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3A315-E892-97E7-119A-831E7E82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05C4-FB30-9CD8-F2BA-F232A554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99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E76B1-454F-72CA-F173-0671124B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18369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Project Goals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308AE-B46C-33A8-74DC-20631E42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8" y="1658711"/>
            <a:ext cx="11132457" cy="52004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Multi-language &amp; build system support - C and C++ compiled with </a:t>
            </a:r>
            <a:r>
              <a:rPr lang="en-US" sz="2000" dirty="0" err="1">
                <a:ea typeface="+mn-lt"/>
                <a:cs typeface="+mn-lt"/>
              </a:rPr>
              <a:t>gcc</a:t>
            </a:r>
            <a:r>
              <a:rPr lang="en-US" sz="2000" dirty="0">
                <a:ea typeface="+mn-lt"/>
                <a:cs typeface="+mn-lt"/>
              </a:rPr>
              <a:t>/g++, Java built with </a:t>
            </a:r>
            <a:r>
              <a:rPr lang="en-US" sz="2000" dirty="0" err="1">
                <a:ea typeface="+mn-lt"/>
                <a:cs typeface="+mn-lt"/>
              </a:rPr>
              <a:t>javac</a:t>
            </a:r>
            <a:r>
              <a:rPr lang="en-US" sz="2000" dirty="0">
                <a:ea typeface="+mn-lt"/>
                <a:cs typeface="+mn-lt"/>
              </a:rPr>
              <a:t>, Maven, or Gradle, Python executed via pip and virtual environments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Automatic dependency detection and installation 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Debugger integration - GDB and </a:t>
            </a:r>
            <a:r>
              <a:rPr lang="en-US" sz="2000" dirty="0" err="1">
                <a:ea typeface="+mn-lt"/>
                <a:cs typeface="+mn-lt"/>
              </a:rPr>
              <a:t>Valgrind</a:t>
            </a:r>
            <a:r>
              <a:rPr lang="en-US" sz="2000" dirty="0">
                <a:ea typeface="+mn-lt"/>
                <a:cs typeface="+mn-lt"/>
              </a:rPr>
              <a:t> for C/C++, JDB for Java, PDB for Python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AI-assisted bug analysis &amp; auto-fix 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Tested on ~50–60 real GitHub repositories across all four languages</a:t>
            </a:r>
            <a:endParaRPr lang="en-US" sz="200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71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E772-D153-7673-8A18-9CF6B9CA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51" y="225388"/>
            <a:ext cx="10449784" cy="1265928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Implementations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07B9-D76C-CA02-3610-3B6F2400D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86" y="1694997"/>
            <a:ext cx="11350171" cy="44819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Multi-language support: C, C++, Java, and Python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Build system support: </a:t>
            </a:r>
            <a:r>
              <a:rPr lang="en-US" sz="1800" dirty="0" err="1">
                <a:ea typeface="+mn-lt"/>
                <a:cs typeface="+mn-lt"/>
              </a:rPr>
              <a:t>gcc</a:t>
            </a:r>
            <a:r>
              <a:rPr lang="en-US" sz="1800" dirty="0">
                <a:ea typeface="+mn-lt"/>
                <a:cs typeface="+mn-lt"/>
              </a:rPr>
              <a:t>/g++ for C and C++, Maven and Gradle for Java, pip with virtual environments for Python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Debugger integration: GDB and </a:t>
            </a:r>
            <a:r>
              <a:rPr lang="en-US" sz="1800" dirty="0" err="1">
                <a:ea typeface="+mn-lt"/>
                <a:cs typeface="+mn-lt"/>
              </a:rPr>
              <a:t>Valgrind</a:t>
            </a:r>
            <a:r>
              <a:rPr lang="en-US" sz="1800" dirty="0">
                <a:ea typeface="+mn-lt"/>
                <a:cs typeface="+mn-lt"/>
              </a:rPr>
              <a:t> for C/C++, JDB for Java, PDB for Python</a:t>
            </a:r>
          </a:p>
          <a:p>
            <a:r>
              <a:rPr lang="en-US" sz="1800">
                <a:ea typeface="+mn-lt"/>
                <a:cs typeface="+mn-lt"/>
              </a:rPr>
              <a:t>Automatic dependency installation (Python): Virtual environment per project, requirements.txt parsing, import scanning, package name mapping via pip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Automatic dependency installation (Java): Correct JDK version detection and installation via </a:t>
            </a:r>
            <a:r>
              <a:rPr lang="en-US" sz="1800" dirty="0" err="1">
                <a:ea typeface="+mn-lt"/>
                <a:cs typeface="+mn-lt"/>
              </a:rPr>
              <a:t>sudo</a:t>
            </a:r>
            <a:r>
              <a:rPr lang="en-US" sz="1800" dirty="0">
                <a:ea typeface="+mn-lt"/>
                <a:cs typeface="+mn-lt"/>
              </a:rPr>
              <a:t> apt, automatic Gradle version download via </a:t>
            </a:r>
            <a:r>
              <a:rPr lang="en-US" sz="1800" dirty="0" err="1">
                <a:ea typeface="+mn-lt"/>
                <a:cs typeface="+mn-lt"/>
              </a:rPr>
              <a:t>wget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6507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CB76-E883-02A9-6B00-F19B3462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51" y="305216"/>
            <a:ext cx="10449784" cy="1265928"/>
          </a:xfrm>
        </p:spPr>
        <p:txBody>
          <a:bodyPr>
            <a:normAutofit/>
          </a:bodyPr>
          <a:lstStyle/>
          <a:p>
            <a:r>
              <a:rPr lang="en-US" sz="3600"/>
              <a:t>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FB040-7D42-FC23-A269-4183C2251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943" y="1825625"/>
            <a:ext cx="11030857" cy="4706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 Error classification: Errors matched against a known checklist, sorted by type and difficulty (easy → medium → hard)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AI fix loop: Detected error + source code sent to OpenAI API, fix applied directly into the source file with automatic .</a:t>
            </a:r>
            <a:r>
              <a:rPr lang="en-US" sz="1800" dirty="0" err="1">
                <a:ea typeface="+mn-lt"/>
                <a:cs typeface="+mn-lt"/>
              </a:rPr>
              <a:t>bak</a:t>
            </a:r>
            <a:r>
              <a:rPr lang="en-US" sz="1800" dirty="0">
                <a:ea typeface="+mn-lt"/>
                <a:cs typeface="+mn-lt"/>
              </a:rPr>
              <a:t> backup, retries up to 5 times per error to handle cases where the first fix introduces new issues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Partial analysis fallback: If compilation fails, the tool continues with static AI analysis instead of stopping completely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Automatic checklist expansion: New error categories discovered by the AI are added directly into the checklist file, so the tool learns from each run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Interactive program detection: Programs requiring user input are automatically detected and skipped for execution, falling </a:t>
            </a:r>
            <a:r>
              <a:rPr lang="en-US" sz="1800" dirty="0">
                <a:ea typeface="+mn-lt"/>
                <a:cs typeface="+mn-lt"/>
              </a:rPr>
              <a:t>back to AI-based static analysis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45670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2A7C-DC2A-D276-772F-3D1DEEDF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297959"/>
            <a:ext cx="10449784" cy="1265928"/>
          </a:xfrm>
        </p:spPr>
        <p:txBody>
          <a:bodyPr anchor="b">
            <a:normAutofit/>
          </a:bodyPr>
          <a:lstStyle/>
          <a:p>
            <a:r>
              <a:rPr lang="en-US" sz="3600"/>
              <a:t>Architecture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5DA0FBE-2542-BE69-9D52-7F80639B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21A6F7F-A0C2-4F73-BC23-4DD78B007244}" type="datetime1">
              <a:rPr lang="en-US" smtClean="0"/>
              <a:pPr>
                <a:spcAft>
                  <a:spcPts val="600"/>
                </a:spcAft>
              </a:pPr>
              <a:t>6/21/2026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E79F4F4-2038-0E30-A902-F32BAAF7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32320" y="6356350"/>
            <a:ext cx="429768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186A9D7-4FA3-DE79-BCC3-5085C5E2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05C59A2-6A8D-216C-069F-CBFB20617E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703134"/>
              </p:ext>
            </p:extLst>
          </p:nvPr>
        </p:nvGraphicFramePr>
        <p:xfrm>
          <a:off x="877824" y="1751584"/>
          <a:ext cx="10602105" cy="4310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878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D900-1C40-3107-C59F-790617025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0546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Challenges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6B738-3D11-324D-075A-81BF18205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57" y="1713278"/>
            <a:ext cx="10907486" cy="4939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 sz="1800">
                <a:ea typeface="+mn-lt"/>
                <a:cs typeface="+mn-lt"/>
              </a:rPr>
              <a:t>Every test run on a new repository revealed unexpected edge cases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Missing system libraries, nested build files, dependency conflicts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Instead of handling all edge cases upfront, the tool was improved sprint by sprint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Each test run was both a validation and a source of new requirements</a:t>
            </a:r>
            <a:endParaRPr lang="en-US"/>
          </a:p>
          <a:p>
            <a:pPr marL="285750" indent="-285750"/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88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29ED-6DE7-3F2D-C9C7-44776EFA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22" y="573731"/>
            <a:ext cx="10449784" cy="1265928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Test Results / Evaluation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55638-9B9F-B786-A444-109A16B4C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~50–60 real open-source GitHub repositories tested across C, C++, Java, and Python 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Most common bug types found:</a:t>
            </a:r>
            <a:r>
              <a:rPr lang="en-US" sz="1800">
                <a:ea typeface="+mn-lt"/>
                <a:cs typeface="+mn-lt"/>
              </a:rPr>
              <a:t> Dependency errors, syntax errors, runtime crashes, memory leaks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Limitation identified: Python dependency version conflicts between packages cannot be resolved automatically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91085138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BohoVogueVTI</vt:lpstr>
      <vt:lpstr>2buggAI</vt:lpstr>
      <vt:lpstr>What is 2BuggAI?</vt:lpstr>
      <vt:lpstr>Project Goals</vt:lpstr>
      <vt:lpstr>Implementations</vt:lpstr>
      <vt:lpstr>Implementations</vt:lpstr>
      <vt:lpstr>Architecture</vt:lpstr>
      <vt:lpstr>Challenges</vt:lpstr>
      <vt:lpstr>Test Results /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238</cp:revision>
  <dcterms:created xsi:type="dcterms:W3CDTF">2026-06-20T11:05:55Z</dcterms:created>
  <dcterms:modified xsi:type="dcterms:W3CDTF">2026-06-21T11:59:51Z</dcterms:modified>
</cp:coreProperties>
</file>